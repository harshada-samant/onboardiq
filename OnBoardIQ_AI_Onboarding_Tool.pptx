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5" r:id="rId9"/>
  </p:sldIdLst>
  <p:sldSz cx="18288000" cy="10287000"/>
  <p:notesSz cx="6858000" cy="9144000"/>
  <p:embeddedFontLst>
    <p:embeddedFont>
      <p:font typeface="ADLaM Display" panose="02010000000000000000" pitchFamily="2" charset="0"/>
      <p:regular r:id="rId10"/>
    </p:embeddedFont>
    <p:embeddedFont>
      <p:font typeface="Inter" panose="020B0604020202020204" charset="0"/>
      <p:regular r:id="rId11"/>
    </p:embeddedFont>
    <p:embeddedFont>
      <p:font typeface="Inter Ultra-Bold" panose="020B0604020202020204" charset="0"/>
      <p:regular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B7DA7F-43C6-7622-BA93-1E9F654E166C}" v="238" dt="2026-06-18T21:52:19.970"/>
    <p1510:client id="{EC278286-F146-91A0-ACAF-EE5F0814351A}" v="1303" dt="2026-06-18T21:38:47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6E9FF">
                <a:alpha val="675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31700" y="6972819"/>
            <a:ext cx="4527197" cy="1431726"/>
          </a:xfrm>
          <a:custGeom>
            <a:avLst/>
            <a:gdLst/>
            <a:ahLst/>
            <a:cxnLst/>
            <a:rect l="l" t="t" r="r" b="b"/>
            <a:pathLst>
              <a:path w="4527197" h="1431726">
                <a:moveTo>
                  <a:pt x="0" y="0"/>
                </a:moveTo>
                <a:lnTo>
                  <a:pt x="4527198" y="0"/>
                </a:lnTo>
                <a:lnTo>
                  <a:pt x="4527198" y="1431727"/>
                </a:lnTo>
                <a:lnTo>
                  <a:pt x="0" y="14317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46776" y="4673517"/>
            <a:ext cx="14849998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spc="204">
                <a:solidFill>
                  <a:srgbClr val="000000"/>
                </a:solidFill>
                <a:latin typeface="Segoe UI"/>
                <a:ea typeface="Inter Ultra-Bold"/>
                <a:cs typeface="Segoe UI"/>
                <a:sym typeface="Inter Ultra-Bold"/>
              </a:rPr>
              <a:t>AI Powered Enterprise Customer Onboarding </a:t>
            </a:r>
            <a:r>
              <a:rPr lang="en-US" sz="2400" b="1" spc="204">
                <a:solidFill>
                  <a:srgbClr val="000000"/>
                </a:solidFill>
                <a:latin typeface="Segoe UI"/>
                <a:ea typeface="Inter Ultra-Bold"/>
                <a:cs typeface="Segoe UI"/>
                <a:sym typeface="Inter Ultra-Bold"/>
              </a:rPr>
              <a:t> </a:t>
            </a:r>
            <a:endParaRPr lang="en-US">
              <a:latin typeface="Segoe UI"/>
              <a:ea typeface="Calibri"/>
              <a:cs typeface="Segoe UI"/>
            </a:endParaRPr>
          </a:p>
          <a:p>
            <a:pPr>
              <a:spcBef>
                <a:spcPct val="0"/>
              </a:spcBef>
            </a:pPr>
            <a:r>
              <a:rPr lang="en-GB" sz="2400" b="1" i="1" spc="204">
                <a:solidFill>
                  <a:schemeClr val="tx2"/>
                </a:solidFill>
                <a:latin typeface="Segoe UI"/>
                <a:ea typeface="Inter Ultra-Bold"/>
                <a:cs typeface="Segoe UI"/>
                <a:sym typeface="Inter Ultra-Bold"/>
              </a:rPr>
              <a:t>From Customer Sign Up to Customer Value: Faster, Smarter, AI Powered</a:t>
            </a:r>
            <a:endParaRPr lang="en-US" sz="2400" b="1" i="1" spc="204">
              <a:solidFill>
                <a:schemeClr val="tx2"/>
              </a:solidFill>
              <a:latin typeface="Segoe UI"/>
              <a:ea typeface="Inter Ultra-Bold"/>
              <a:cs typeface="Segoe UI"/>
            </a:endParaRPr>
          </a:p>
          <a:p>
            <a:pPr>
              <a:spcBef>
                <a:spcPct val="0"/>
              </a:spcBef>
            </a:pPr>
            <a:endParaRPr lang="en-US" sz="4800" b="1" spc="204">
              <a:solidFill>
                <a:srgbClr val="000000"/>
              </a:solidFill>
              <a:latin typeface="Segoe UI"/>
              <a:ea typeface="Inter Ultra-Bold"/>
              <a:cs typeface="Segoe UI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0" y="1586771"/>
            <a:ext cx="4559335" cy="4114800"/>
          </a:xfrm>
          <a:custGeom>
            <a:avLst/>
            <a:gdLst/>
            <a:ahLst/>
            <a:cxnLst/>
            <a:rect l="l" t="t" r="r" b="b"/>
            <a:pathLst>
              <a:path w="4559335" h="4114800">
                <a:moveTo>
                  <a:pt x="0" y="0"/>
                </a:moveTo>
                <a:lnTo>
                  <a:pt x="4559335" y="0"/>
                </a:lnTo>
                <a:lnTo>
                  <a:pt x="45593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21633" y="611686"/>
            <a:ext cx="6497274" cy="4815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0" b="1" spc="160">
                <a:solidFill>
                  <a:srgbClr val="000000"/>
                </a:solidFill>
                <a:latin typeface="Inter Ultra-Bold"/>
                <a:ea typeface="Inter Ultra-Bold"/>
                <a:sym typeface="Inter Ultra-Bold"/>
              </a:rPr>
              <a:t>OnboardIQ</a:t>
            </a:r>
            <a:endParaRPr lang="en-US" sz="8000" b="1" spc="160">
              <a:solidFill>
                <a:srgbClr val="000000"/>
              </a:solidFill>
              <a:latin typeface="Inter Ultra-Bold"/>
              <a:ea typeface="Inter Ultra-Bold"/>
            </a:endParaRPr>
          </a:p>
          <a:p>
            <a:pPr algn="r">
              <a:lnSpc>
                <a:spcPts val="34225"/>
              </a:lnSpc>
              <a:spcBef>
                <a:spcPct val="0"/>
              </a:spcBef>
            </a:pPr>
            <a:endParaRPr lang="en-US" sz="9600" b="1">
              <a:solidFill>
                <a:srgbClr val="000000"/>
              </a:solidFill>
              <a:latin typeface="Inter Ultra-Bold"/>
              <a:ea typeface="Inter Ultra-Bold"/>
              <a:cs typeface="Inter Ultra-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6413144" y="235947"/>
            <a:ext cx="594609" cy="54949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9047" y="8721166"/>
            <a:ext cx="318940" cy="31894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1028700"/>
            <a:ext cx="626108" cy="98935"/>
            <a:chOff x="0" y="0"/>
            <a:chExt cx="164901" cy="2605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1203071"/>
            <a:ext cx="626108" cy="98935"/>
            <a:chOff x="0" y="0"/>
            <a:chExt cx="164901" cy="2605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8700" y="1377441"/>
            <a:ext cx="626108" cy="98935"/>
            <a:chOff x="0" y="0"/>
            <a:chExt cx="164901" cy="2605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flipH="1">
            <a:off x="11764615" y="4870085"/>
            <a:ext cx="6519351" cy="5415714"/>
          </a:xfrm>
          <a:custGeom>
            <a:avLst/>
            <a:gdLst/>
            <a:ahLst/>
            <a:cxnLst/>
            <a:rect l="l" t="t" r="r" b="b"/>
            <a:pathLst>
              <a:path w="4729655" h="4114800">
                <a:moveTo>
                  <a:pt x="4729656" y="0"/>
                </a:moveTo>
                <a:lnTo>
                  <a:pt x="0" y="0"/>
                </a:lnTo>
                <a:lnTo>
                  <a:pt x="0" y="4114800"/>
                </a:lnTo>
                <a:lnTo>
                  <a:pt x="4729656" y="4114800"/>
                </a:lnTo>
                <a:lnTo>
                  <a:pt x="4729656" y="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20938558">
            <a:off x="8464039" y="453823"/>
            <a:ext cx="2661080" cy="3791694"/>
          </a:xfrm>
          <a:custGeom>
            <a:avLst/>
            <a:gdLst/>
            <a:ahLst/>
            <a:cxnLst/>
            <a:rect l="l" t="t" r="r" b="b"/>
            <a:pathLst>
              <a:path w="2661080" h="3791694">
                <a:moveTo>
                  <a:pt x="0" y="0"/>
                </a:moveTo>
                <a:lnTo>
                  <a:pt x="2661080" y="0"/>
                </a:lnTo>
                <a:lnTo>
                  <a:pt x="2661080" y="3791693"/>
                </a:lnTo>
                <a:lnTo>
                  <a:pt x="0" y="3791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560198" y="8548655"/>
            <a:ext cx="8891252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59"/>
              </a:lnSpc>
              <a:spcBef>
                <a:spcPct val="0"/>
              </a:spcBef>
            </a:pPr>
            <a:r>
              <a:rPr lang="en-US" sz="4800" b="1">
                <a:latin typeface="Segoe UI"/>
                <a:ea typeface="Inter Semi-Bold"/>
                <a:cs typeface="Segoe UI"/>
                <a:sym typeface="Inter Semi-Bold"/>
              </a:rPr>
              <a:t>TEAM: SpecFlow AI</a:t>
            </a:r>
            <a:endParaRPr lang="en-US" sz="4800" b="1">
              <a:latin typeface="Segoe UI"/>
              <a:ea typeface="Inter Semi-Bold"/>
              <a:cs typeface="Segoe UI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017782" y="557964"/>
            <a:ext cx="4575896" cy="45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99"/>
              </a:lnSpc>
              <a:spcBef>
                <a:spcPct val="0"/>
              </a:spcBef>
            </a:pPr>
            <a:r>
              <a:rPr lang="en-US" b="1">
                <a:solidFill>
                  <a:srgbClr val="2120A6"/>
                </a:solidFill>
                <a:latin typeface="Segoe UI"/>
                <a:ea typeface="Inter Heavy"/>
                <a:cs typeface="Segoe UI"/>
              </a:rPr>
              <a:t>DE Hackathon 26</a:t>
            </a:r>
          </a:p>
        </p:txBody>
      </p:sp>
      <p:sp>
        <p:nvSpPr>
          <p:cNvPr id="28" name="Freeform 28"/>
          <p:cNvSpPr/>
          <p:nvPr/>
        </p:nvSpPr>
        <p:spPr>
          <a:xfrm>
            <a:off x="980072" y="5201016"/>
            <a:ext cx="726750" cy="727218"/>
          </a:xfrm>
          <a:custGeom>
            <a:avLst/>
            <a:gdLst/>
            <a:ahLst/>
            <a:cxnLst/>
            <a:rect l="l" t="t" r="r" b="b"/>
            <a:pathLst>
              <a:path w="726750" h="727218">
                <a:moveTo>
                  <a:pt x="0" y="0"/>
                </a:moveTo>
                <a:lnTo>
                  <a:pt x="0" y="727217"/>
                </a:lnTo>
                <a:lnTo>
                  <a:pt x="726750" y="727217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Freeform 29"/>
          <p:cNvSpPr/>
          <p:nvPr/>
        </p:nvSpPr>
        <p:spPr>
          <a:xfrm>
            <a:off x="13016821" y="4313572"/>
            <a:ext cx="726751" cy="727218"/>
          </a:xfrm>
          <a:custGeom>
            <a:avLst/>
            <a:gdLst/>
            <a:ahLst/>
            <a:cxnLst/>
            <a:rect l="l" t="t" r="r" b="b"/>
            <a:pathLst>
              <a:path w="726751" h="727218">
                <a:moveTo>
                  <a:pt x="0" y="0"/>
                </a:moveTo>
                <a:lnTo>
                  <a:pt x="726751" y="0"/>
                </a:lnTo>
                <a:lnTo>
                  <a:pt x="726751" y="727218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4858F2-7996-E139-7FFE-AA8BA5807F68}"/>
              </a:ext>
            </a:extLst>
          </p:cNvPr>
          <p:cNvSpPr txBox="1"/>
          <p:nvPr/>
        </p:nvSpPr>
        <p:spPr>
          <a:xfrm>
            <a:off x="1488908" y="8016039"/>
            <a:ext cx="300789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>
                <a:latin typeface="Segoe UI"/>
                <a:ea typeface="Calibri"/>
                <a:cs typeface="Segoe UI"/>
              </a:rPr>
              <a:t>Presented By:</a:t>
            </a:r>
            <a:endParaRPr lang="en-GB" sz="2400" b="1">
              <a:latin typeface="Segoe UI"/>
              <a:cs typeface="Segoe U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CECEC6-2CE3-CFE6-A112-4B9FA23DC253}"/>
              </a:ext>
            </a:extLst>
          </p:cNvPr>
          <p:cNvSpPr txBox="1"/>
          <p:nvPr/>
        </p:nvSpPr>
        <p:spPr>
          <a:xfrm>
            <a:off x="1503948" y="9256797"/>
            <a:ext cx="677528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1">
                <a:solidFill>
                  <a:schemeClr val="tx2"/>
                </a:solidFill>
                <a:latin typeface="Segoe UI"/>
                <a:ea typeface="Calibri"/>
                <a:cs typeface="Segoe UI"/>
              </a:rPr>
              <a:t>Shishank, Ankit, Apurva, Harshada &amp; Harshal</a:t>
            </a:r>
            <a:endParaRPr lang="en-GB" sz="2400" b="1" i="1">
              <a:solidFill>
                <a:schemeClr val="tx2"/>
              </a:solidFill>
              <a:latin typeface="Segoe UI"/>
              <a:ea typeface="Calibri"/>
              <a:cs typeface="Segoe UI"/>
            </a:endParaRPr>
          </a:p>
          <a:p>
            <a:endParaRPr lang="en-GB" sz="2400" b="1">
              <a:latin typeface="Segoe UI"/>
              <a:ea typeface="Calibr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626108" cy="98935"/>
            <a:chOff x="0" y="0"/>
            <a:chExt cx="164901" cy="260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203071"/>
            <a:ext cx="626108" cy="98935"/>
            <a:chOff x="0" y="0"/>
            <a:chExt cx="164901" cy="260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1377441"/>
            <a:ext cx="626108" cy="98935"/>
            <a:chOff x="0" y="0"/>
            <a:chExt cx="164901" cy="260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144835" y="560099"/>
            <a:ext cx="14193844" cy="2759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en-US" sz="8000" b="1" spc="160">
                <a:solidFill>
                  <a:srgbClr val="000000"/>
                </a:solidFill>
                <a:latin typeface="Inter Ultra-Bold"/>
                <a:ea typeface="Inter Ultra-Bold"/>
                <a:sym typeface="Inter Ultra-Bold"/>
              </a:rPr>
              <a:t>AGENDA</a:t>
            </a:r>
            <a:endParaRPr lang="en-US"/>
          </a:p>
          <a:p>
            <a:pPr algn="l">
              <a:lnSpc>
                <a:spcPts val="11200"/>
              </a:lnSpc>
              <a:spcBef>
                <a:spcPct val="0"/>
              </a:spcBef>
            </a:pPr>
            <a:endParaRPr lang="en-US" sz="8000" b="1" spc="160">
              <a:solidFill>
                <a:srgbClr val="000000"/>
              </a:solidFill>
              <a:latin typeface="Inter Ultra-Bold"/>
              <a:ea typeface="Inter Ultra-Bold"/>
              <a:cs typeface="Inter Ultra-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2051082" y="3450185"/>
            <a:ext cx="726751" cy="727218"/>
          </a:xfrm>
          <a:custGeom>
            <a:avLst/>
            <a:gdLst/>
            <a:ahLst/>
            <a:cxnLst/>
            <a:rect l="l" t="t" r="r" b="b"/>
            <a:pathLst>
              <a:path w="726751" h="727218">
                <a:moveTo>
                  <a:pt x="0" y="0"/>
                </a:moveTo>
                <a:lnTo>
                  <a:pt x="726751" y="0"/>
                </a:lnTo>
                <a:lnTo>
                  <a:pt x="726751" y="727218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1654971" y="4348460"/>
            <a:ext cx="8761430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/>
              <a:buChar char="Ø"/>
            </a:pPr>
            <a:r>
              <a:rPr lang="en-GB" sz="3200" b="1" spc="76">
                <a:solidFill>
                  <a:schemeClr val="tx2"/>
                </a:solidFill>
                <a:latin typeface="Segoe UI"/>
                <a:ea typeface="Inter Semi-Bold"/>
                <a:cs typeface="Segoe UI"/>
                <a:sym typeface="Inter"/>
              </a:rPr>
              <a:t>THE ONBOARDING PROBLEM</a:t>
            </a:r>
            <a:endParaRPr lang="en-US" sz="3200" b="1" spc="76">
              <a:solidFill>
                <a:schemeClr val="tx2"/>
              </a:solidFill>
              <a:latin typeface="Segoe UI"/>
              <a:ea typeface="Inter Semi-Bold"/>
              <a:cs typeface="Segoe UI"/>
            </a:endParaRPr>
          </a:p>
          <a:p>
            <a:pPr marL="457200" indent="-457200">
              <a:buFont typeface="Wingdings"/>
              <a:buChar char="Ø"/>
            </a:pPr>
            <a:r>
              <a:rPr lang="en-GB" sz="3200" b="1" spc="76">
                <a:solidFill>
                  <a:schemeClr val="tx2"/>
                </a:solidFill>
                <a:latin typeface="Segoe UI"/>
                <a:ea typeface="Inter Semi-Bold"/>
                <a:cs typeface="Segoe UI"/>
                <a:sym typeface="Inter"/>
              </a:rPr>
              <a:t>FROM MANUAL TO INTELLIGENT</a:t>
            </a:r>
            <a:endParaRPr lang="en-GB" sz="3200" b="1" spc="76">
              <a:solidFill>
                <a:schemeClr val="tx2"/>
              </a:solidFill>
              <a:latin typeface="Segoe UI"/>
              <a:ea typeface="Inter Semi-Bold"/>
              <a:cs typeface="Segoe UI"/>
            </a:endParaRPr>
          </a:p>
          <a:p>
            <a:pPr marL="457200" indent="-457200">
              <a:buFont typeface="Wingdings"/>
              <a:buChar char="Ø"/>
            </a:pPr>
            <a:r>
              <a:rPr lang="en-GB" sz="3200" b="1" spc="76">
                <a:solidFill>
                  <a:schemeClr val="tx2"/>
                </a:solidFill>
                <a:latin typeface="Segoe UI"/>
                <a:ea typeface="Inter Semi-Bold"/>
                <a:cs typeface="Segoe UI"/>
                <a:sym typeface="Inter"/>
              </a:rPr>
              <a:t>BEHIND THE INTELLIGENCE</a:t>
            </a:r>
            <a:endParaRPr lang="en-US" sz="3200" b="1" spc="76">
              <a:solidFill>
                <a:schemeClr val="tx2"/>
              </a:solidFill>
              <a:latin typeface="Segoe UI"/>
              <a:ea typeface="Inter Semi-Bold"/>
              <a:cs typeface="Segoe UI"/>
            </a:endParaRPr>
          </a:p>
          <a:p>
            <a:pPr marL="457200" indent="-457200">
              <a:buFont typeface="Wingdings"/>
              <a:buChar char="Ø"/>
            </a:pPr>
            <a:r>
              <a:rPr lang="en-GB" sz="3200" b="1" spc="76">
                <a:solidFill>
                  <a:schemeClr val="tx2"/>
                </a:solidFill>
                <a:latin typeface="Segoe UI"/>
                <a:ea typeface="Inter Semi-Bold"/>
                <a:cs typeface="Segoe UI"/>
                <a:sym typeface="Inter"/>
              </a:rPr>
              <a:t>SEE IT IN ACTION</a:t>
            </a:r>
            <a:endParaRPr lang="en-GB" sz="3200" b="1" spc="76">
              <a:solidFill>
                <a:schemeClr val="tx2"/>
              </a:solidFill>
              <a:latin typeface="Segoe UI"/>
              <a:ea typeface="Inter Semi-Bold"/>
              <a:cs typeface="Segoe UI"/>
            </a:endParaRPr>
          </a:p>
          <a:p>
            <a:pPr marL="457200" indent="-457200">
              <a:buFont typeface="Wingdings"/>
              <a:buChar char="Ø"/>
            </a:pPr>
            <a:r>
              <a:rPr lang="en-GB" sz="3200" b="1" spc="76">
                <a:solidFill>
                  <a:schemeClr val="tx2"/>
                </a:solidFill>
                <a:latin typeface="Segoe UI"/>
                <a:ea typeface="Inter Semi-Bold"/>
                <a:cs typeface="Segoe UI"/>
                <a:sym typeface="Inter"/>
              </a:rPr>
              <a:t>THE VALUE WE DELIVER</a:t>
            </a:r>
            <a:endParaRPr lang="en-US" sz="3200" b="1" spc="76">
              <a:solidFill>
                <a:schemeClr val="tx2"/>
              </a:solidFill>
              <a:latin typeface="Segoe UI"/>
              <a:ea typeface="Inter Semi-Bold"/>
              <a:cs typeface="Segoe UI"/>
            </a:endParaRPr>
          </a:p>
          <a:p>
            <a:pPr marL="457200" indent="-457200" algn="l">
              <a:buFont typeface="Wingdings"/>
              <a:buChar char="Ø"/>
            </a:pPr>
            <a:r>
              <a:rPr lang="en-GB" sz="3200" b="1" spc="76">
                <a:solidFill>
                  <a:schemeClr val="tx2"/>
                </a:solidFill>
                <a:latin typeface="Segoe UI"/>
                <a:ea typeface="Inter Semi-Bold"/>
                <a:cs typeface="Segoe UI"/>
                <a:sym typeface="Inter"/>
              </a:rPr>
              <a:t>Q/A</a:t>
            </a:r>
            <a:endParaRPr lang="en-US" sz="3200" b="1" spc="76">
              <a:solidFill>
                <a:schemeClr val="tx2"/>
              </a:solidFill>
              <a:latin typeface="Segoe UI"/>
              <a:ea typeface="Inter Semi-Bold"/>
              <a:cs typeface="Segoe UI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-721" y="7438980"/>
            <a:ext cx="4296144" cy="3468103"/>
          </a:xfrm>
          <a:custGeom>
            <a:avLst/>
            <a:gdLst/>
            <a:ahLst/>
            <a:cxnLst/>
            <a:rect l="l" t="t" r="r" b="b"/>
            <a:pathLst>
              <a:path w="4559335" h="4114800">
                <a:moveTo>
                  <a:pt x="0" y="0"/>
                </a:moveTo>
                <a:lnTo>
                  <a:pt x="4559335" y="0"/>
                </a:lnTo>
                <a:lnTo>
                  <a:pt x="45593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65EC952B-A795-BABF-7736-ED846B956D6D}"/>
              </a:ext>
            </a:extLst>
          </p:cNvPr>
          <p:cNvSpPr txBox="1"/>
          <p:nvPr/>
        </p:nvSpPr>
        <p:spPr>
          <a:xfrm>
            <a:off x="13017782" y="557964"/>
            <a:ext cx="4575896" cy="45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99"/>
              </a:lnSpc>
              <a:spcBef>
                <a:spcPct val="0"/>
              </a:spcBef>
            </a:pPr>
            <a:r>
              <a:rPr lang="en-US" b="1">
                <a:solidFill>
                  <a:srgbClr val="2120A6"/>
                </a:solidFill>
                <a:latin typeface="Segoe UI"/>
                <a:ea typeface="Inter Heavy"/>
                <a:cs typeface="Segoe UI"/>
              </a:rPr>
              <a:t>DE Hackathon 26</a:t>
            </a:r>
          </a:p>
        </p:txBody>
      </p:sp>
      <p:sp>
        <p:nvSpPr>
          <p:cNvPr id="30" name="Freeform 26">
            <a:extLst>
              <a:ext uri="{FF2B5EF4-FFF2-40B4-BE49-F238E27FC236}">
                <a16:creationId xmlns:a16="http://schemas.microsoft.com/office/drawing/2014/main" id="{C63F62C5-3852-9990-FA55-1F6450277740}"/>
              </a:ext>
            </a:extLst>
          </p:cNvPr>
          <p:cNvSpPr/>
          <p:nvPr/>
        </p:nvSpPr>
        <p:spPr>
          <a:xfrm rot="-2400000">
            <a:off x="15061312" y="2272920"/>
            <a:ext cx="4296144" cy="3468103"/>
          </a:xfrm>
          <a:custGeom>
            <a:avLst/>
            <a:gdLst/>
            <a:ahLst/>
            <a:cxnLst/>
            <a:rect l="l" t="t" r="r" b="b"/>
            <a:pathLst>
              <a:path w="4559335" h="4114800">
                <a:moveTo>
                  <a:pt x="0" y="0"/>
                </a:moveTo>
                <a:lnTo>
                  <a:pt x="4559335" y="0"/>
                </a:lnTo>
                <a:lnTo>
                  <a:pt x="45593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186386E-9758-2777-A115-87E34A32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6E9FF">
                <a:alpha val="675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4729655" cy="4114800"/>
          </a:xfrm>
          <a:custGeom>
            <a:avLst/>
            <a:gdLst/>
            <a:ahLst/>
            <a:cxnLst/>
            <a:rect l="l" t="t" r="r" b="b"/>
            <a:pathLst>
              <a:path w="4729655" h="4114800">
                <a:moveTo>
                  <a:pt x="0" y="4114800"/>
                </a:moveTo>
                <a:lnTo>
                  <a:pt x="4729655" y="4114800"/>
                </a:lnTo>
                <a:lnTo>
                  <a:pt x="472965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626108" cy="98935"/>
            <a:chOff x="0" y="0"/>
            <a:chExt cx="164901" cy="260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1203071"/>
            <a:ext cx="626108" cy="98935"/>
            <a:chOff x="0" y="0"/>
            <a:chExt cx="164901" cy="2605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1377441"/>
            <a:ext cx="626108" cy="98935"/>
            <a:chOff x="0" y="0"/>
            <a:chExt cx="164901" cy="260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125123" y="618662"/>
            <a:ext cx="12833138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000" b="1" spc="160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THE </a:t>
            </a:r>
            <a:r>
              <a:rPr lang="en-US" sz="8000" b="1" spc="160">
                <a:solidFill>
                  <a:srgbClr val="000000"/>
                </a:solidFill>
                <a:latin typeface="Inter Ultra-Bold"/>
                <a:ea typeface="Inter Ultra-Bold"/>
                <a:sym typeface="Inter Ultra-Bold"/>
              </a:rPr>
              <a:t>ONBOARDING PROBLEM</a:t>
            </a:r>
            <a:endParaRPr lang="en-US" sz="8000" b="1" spc="160">
              <a:solidFill>
                <a:srgbClr val="000000"/>
              </a:solidFill>
              <a:latin typeface="Inter Ultra-Bold"/>
              <a:ea typeface="Inter Ultra-Bold"/>
            </a:endParaRPr>
          </a:p>
          <a:p>
            <a:pPr algn="r">
              <a:spcBef>
                <a:spcPct val="0"/>
              </a:spcBef>
            </a:pPr>
            <a:endParaRPr lang="en-US" sz="8000" b="1" spc="160">
              <a:solidFill>
                <a:srgbClr val="000000"/>
              </a:solidFill>
              <a:latin typeface="Inter Ultra-Bold"/>
              <a:ea typeface="Inter Ultra-Bold"/>
              <a:cs typeface="Inter Ultra-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126581" y="3159733"/>
            <a:ext cx="12833138" cy="833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GB" sz="2400" b="1" i="1" spc="119">
                <a:solidFill>
                  <a:schemeClr val="tx2"/>
                </a:solidFill>
                <a:latin typeface="Segoe UI"/>
                <a:ea typeface="Inter"/>
                <a:cs typeface="Segoe UI"/>
                <a:sym typeface="Inter"/>
              </a:rPr>
              <a:t>Customers can sign a contract in days.</a:t>
            </a:r>
            <a:br>
              <a:rPr lang="en-GB" sz="2400" b="1" i="1" spc="119">
                <a:latin typeface="Segoe UI"/>
                <a:ea typeface="Inter"/>
                <a:cs typeface="Segoe UI"/>
              </a:rPr>
            </a:br>
            <a:r>
              <a:rPr lang="en-GB" sz="2400" b="1" i="1" spc="119">
                <a:solidFill>
                  <a:schemeClr val="tx2"/>
                </a:solidFill>
                <a:latin typeface="Segoe UI"/>
                <a:ea typeface="Inter"/>
                <a:cs typeface="Segoe UI"/>
                <a:sym typeface="Inter"/>
              </a:rPr>
              <a:t>Onboarding them can still take months.</a:t>
            </a:r>
            <a:endParaRPr lang="en-US" sz="2400" b="1" i="1" spc="119">
              <a:solidFill>
                <a:schemeClr val="tx2"/>
              </a:solidFill>
              <a:latin typeface="Segoe UI"/>
              <a:ea typeface="Inter"/>
              <a:cs typeface="Segoe UI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577516" y="5679120"/>
            <a:ext cx="2228950" cy="3579180"/>
            <a:chOff x="0" y="0"/>
            <a:chExt cx="1030682" cy="93672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30682" cy="936723"/>
            </a:xfrm>
            <a:custGeom>
              <a:avLst/>
              <a:gdLst/>
              <a:ahLst/>
              <a:cxnLst/>
              <a:rect l="l" t="t" r="r" b="b"/>
              <a:pathLst>
                <a:path w="1030682" h="936723">
                  <a:moveTo>
                    <a:pt x="0" y="0"/>
                  </a:moveTo>
                  <a:lnTo>
                    <a:pt x="1030682" y="0"/>
                  </a:lnTo>
                  <a:lnTo>
                    <a:pt x="1030682" y="936723"/>
                  </a:lnTo>
                  <a:lnTo>
                    <a:pt x="0" y="936723"/>
                  </a:lnTo>
                  <a:close/>
                </a:path>
              </a:pathLst>
            </a:custGeom>
            <a:solidFill>
              <a:srgbClr val="FFFFFF">
                <a:alpha val="54902"/>
              </a:srgbClr>
            </a:solidFill>
            <a:ln w="38100" cap="sq">
              <a:solidFill>
                <a:srgbClr val="000000">
                  <a:alpha val="54902"/>
                </a:srgbClr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030682" cy="974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750811" y="4912108"/>
            <a:ext cx="1755208" cy="3534060"/>
            <a:chOff x="0" y="0"/>
            <a:chExt cx="1030682" cy="9367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30682" cy="936723"/>
            </a:xfrm>
            <a:custGeom>
              <a:avLst/>
              <a:gdLst/>
              <a:ahLst/>
              <a:cxnLst/>
              <a:rect l="l" t="t" r="r" b="b"/>
              <a:pathLst>
                <a:path w="1030682" h="936723">
                  <a:moveTo>
                    <a:pt x="0" y="0"/>
                  </a:moveTo>
                  <a:lnTo>
                    <a:pt x="1030682" y="0"/>
                  </a:lnTo>
                  <a:lnTo>
                    <a:pt x="1030682" y="936723"/>
                  </a:lnTo>
                  <a:lnTo>
                    <a:pt x="0" y="936723"/>
                  </a:lnTo>
                  <a:close/>
                </a:path>
              </a:pathLst>
            </a:custGeom>
            <a:solidFill>
              <a:srgbClr val="FFFFFF">
                <a:alpha val="54902"/>
              </a:srgbClr>
            </a:solidFill>
            <a:ln w="38100" cap="sq">
              <a:solidFill>
                <a:srgbClr val="000000">
                  <a:alpha val="54902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30682" cy="974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25883" y="6735468"/>
            <a:ext cx="3266241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4000" b="1" spc="124">
                <a:solidFill>
                  <a:srgbClr val="000000"/>
                </a:solidFill>
                <a:latin typeface="Segoe UI"/>
                <a:ea typeface="ADLaM Display"/>
                <a:cs typeface="Segoe UI"/>
                <a:sym typeface="Inter"/>
              </a:rPr>
              <a:t>6–12</a:t>
            </a:r>
            <a:r>
              <a:rPr lang="en-US" sz="3200" b="1" spc="124">
                <a:solidFill>
                  <a:srgbClr val="000000"/>
                </a:solidFill>
                <a:latin typeface="Segoe UI"/>
                <a:ea typeface="ADLaM Display"/>
                <a:cs typeface="Segoe UI"/>
                <a:sym typeface="Inter"/>
              </a:rPr>
              <a:t> </a:t>
            </a:r>
            <a:endParaRPr lang="en-US" sz="3200">
              <a:latin typeface="Segoe UI"/>
              <a:ea typeface="Calibri"/>
              <a:cs typeface="Segoe UI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Weeks of </a:t>
            </a:r>
            <a:endParaRPr lang="en-US" sz="200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onboarding </a:t>
            </a:r>
            <a:endParaRPr lang="en-US" sz="200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effort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871344" y="5930855"/>
            <a:ext cx="3266241" cy="141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spc="124">
                <a:solidFill>
                  <a:srgbClr val="000000"/>
                </a:solidFill>
                <a:latin typeface="Segoe UI"/>
                <a:ea typeface="ADLaM Display"/>
                <a:cs typeface="Segoe UI"/>
                <a:sym typeface="Inter"/>
              </a:rPr>
              <a:t>80–90% </a:t>
            </a:r>
            <a:endParaRPr lang="en-US" sz="3200" b="1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Manual </a:t>
            </a:r>
            <a:endParaRPr lang="en-US" sz="200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onboarding </a:t>
            </a:r>
            <a:endParaRPr lang="en-US" sz="200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activities</a:t>
            </a:r>
            <a:endParaRPr lang="en-US" sz="2000">
              <a:ea typeface="Calibri"/>
              <a:cs typeface="Calibri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825883" y="6192697"/>
            <a:ext cx="311391" cy="318940"/>
            <a:chOff x="0" y="0"/>
            <a:chExt cx="793561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93561" cy="812800"/>
            </a:xfrm>
            <a:custGeom>
              <a:avLst/>
              <a:gdLst/>
              <a:ahLst/>
              <a:cxnLst/>
              <a:rect l="l" t="t" r="r" b="b"/>
              <a:pathLst>
                <a:path w="793561" h="812800">
                  <a:moveTo>
                    <a:pt x="396780" y="0"/>
                  </a:moveTo>
                  <a:cubicBezTo>
                    <a:pt x="177645" y="0"/>
                    <a:pt x="0" y="181951"/>
                    <a:pt x="0" y="406400"/>
                  </a:cubicBezTo>
                  <a:cubicBezTo>
                    <a:pt x="0" y="630849"/>
                    <a:pt x="177645" y="812800"/>
                    <a:pt x="396780" y="812800"/>
                  </a:cubicBezTo>
                  <a:cubicBezTo>
                    <a:pt x="615916" y="812800"/>
                    <a:pt x="793561" y="630849"/>
                    <a:pt x="793561" y="406400"/>
                  </a:cubicBezTo>
                  <a:cubicBezTo>
                    <a:pt x="793561" y="181951"/>
                    <a:pt x="615916" y="0"/>
                    <a:pt x="3967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74396" y="38100"/>
              <a:ext cx="644768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931502" y="5470802"/>
            <a:ext cx="311391" cy="318940"/>
            <a:chOff x="0" y="0"/>
            <a:chExt cx="793561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93561" cy="812800"/>
            </a:xfrm>
            <a:custGeom>
              <a:avLst/>
              <a:gdLst/>
              <a:ahLst/>
              <a:cxnLst/>
              <a:rect l="l" t="t" r="r" b="b"/>
              <a:pathLst>
                <a:path w="793561" h="812800">
                  <a:moveTo>
                    <a:pt x="396780" y="0"/>
                  </a:moveTo>
                  <a:cubicBezTo>
                    <a:pt x="177645" y="0"/>
                    <a:pt x="0" y="181951"/>
                    <a:pt x="0" y="406400"/>
                  </a:cubicBezTo>
                  <a:cubicBezTo>
                    <a:pt x="0" y="630849"/>
                    <a:pt x="177645" y="812800"/>
                    <a:pt x="396780" y="812800"/>
                  </a:cubicBezTo>
                  <a:cubicBezTo>
                    <a:pt x="615916" y="812800"/>
                    <a:pt x="793561" y="630849"/>
                    <a:pt x="793561" y="406400"/>
                  </a:cubicBezTo>
                  <a:cubicBezTo>
                    <a:pt x="793561" y="181951"/>
                    <a:pt x="615916" y="0"/>
                    <a:pt x="3967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9" name="TextBox 29"/>
            <p:cNvSpPr txBox="1"/>
            <p:nvPr/>
          </p:nvSpPr>
          <p:spPr>
            <a:xfrm>
              <a:off x="74396" y="38100"/>
              <a:ext cx="644768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13555" y="5632217"/>
            <a:ext cx="2356786" cy="3708800"/>
            <a:chOff x="0" y="-38100"/>
            <a:chExt cx="1030682" cy="974823"/>
          </a:xfrm>
        </p:grpSpPr>
        <p:sp>
          <p:nvSpPr>
            <p:cNvPr id="31" name="Freeform 31"/>
            <p:cNvSpPr/>
            <p:nvPr/>
          </p:nvSpPr>
          <p:spPr>
            <a:xfrm>
              <a:off x="0" y="-1980"/>
              <a:ext cx="787560" cy="936723"/>
            </a:xfrm>
            <a:custGeom>
              <a:avLst/>
              <a:gdLst/>
              <a:ahLst/>
              <a:cxnLst/>
              <a:rect l="l" t="t" r="r" b="b"/>
              <a:pathLst>
                <a:path w="1030682" h="936723">
                  <a:moveTo>
                    <a:pt x="0" y="0"/>
                  </a:moveTo>
                  <a:lnTo>
                    <a:pt x="1030682" y="0"/>
                  </a:lnTo>
                  <a:lnTo>
                    <a:pt x="1030682" y="936723"/>
                  </a:lnTo>
                  <a:lnTo>
                    <a:pt x="0" y="936723"/>
                  </a:lnTo>
                  <a:close/>
                </a:path>
              </a:pathLst>
            </a:custGeom>
            <a:solidFill>
              <a:srgbClr val="FFFFFF">
                <a:alpha val="54902"/>
              </a:srgbClr>
            </a:solidFill>
            <a:ln w="38100" cap="sq">
              <a:solidFill>
                <a:srgbClr val="000000">
                  <a:alpha val="54902"/>
                </a:srgbClr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030682" cy="974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Freeform 44"/>
          <p:cNvSpPr/>
          <p:nvPr/>
        </p:nvSpPr>
        <p:spPr>
          <a:xfrm>
            <a:off x="12667590" y="2065491"/>
            <a:ext cx="5610038" cy="1935547"/>
          </a:xfrm>
          <a:custGeom>
            <a:avLst/>
            <a:gdLst/>
            <a:ahLst/>
            <a:cxnLst/>
            <a:rect l="l" t="t" r="r" b="b"/>
            <a:pathLst>
              <a:path w="4527197" h="1431726">
                <a:moveTo>
                  <a:pt x="0" y="0"/>
                </a:moveTo>
                <a:lnTo>
                  <a:pt x="4527197" y="0"/>
                </a:lnTo>
                <a:lnTo>
                  <a:pt x="4527197" y="1431727"/>
                </a:lnTo>
                <a:lnTo>
                  <a:pt x="0" y="14317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FB6413C5-DD0E-9530-E933-79B04504D5A4}"/>
              </a:ext>
            </a:extLst>
          </p:cNvPr>
          <p:cNvSpPr txBox="1"/>
          <p:nvPr/>
        </p:nvSpPr>
        <p:spPr>
          <a:xfrm>
            <a:off x="13017782" y="557964"/>
            <a:ext cx="4575896" cy="45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99"/>
              </a:lnSpc>
              <a:spcBef>
                <a:spcPct val="0"/>
              </a:spcBef>
            </a:pPr>
            <a:r>
              <a:rPr lang="en-US" b="1">
                <a:solidFill>
                  <a:srgbClr val="2120A6"/>
                </a:solidFill>
                <a:latin typeface="Segoe UI"/>
                <a:ea typeface="Inter Heavy"/>
                <a:cs typeface="Segoe UI"/>
              </a:rPr>
              <a:t>DE Hackathon 26</a:t>
            </a:r>
          </a:p>
        </p:txBody>
      </p:sp>
      <p:sp>
        <p:nvSpPr>
          <p:cNvPr id="51" name="Freeform 35">
            <a:extLst>
              <a:ext uri="{FF2B5EF4-FFF2-40B4-BE49-F238E27FC236}">
                <a16:creationId xmlns:a16="http://schemas.microsoft.com/office/drawing/2014/main" id="{AB5B22E5-18A8-A329-2E26-95812A298793}"/>
              </a:ext>
            </a:extLst>
          </p:cNvPr>
          <p:cNvSpPr/>
          <p:nvPr/>
        </p:nvSpPr>
        <p:spPr>
          <a:xfrm>
            <a:off x="6918808" y="6194702"/>
            <a:ext cx="311391" cy="318940"/>
          </a:xfrm>
          <a:custGeom>
            <a:avLst/>
            <a:gdLst/>
            <a:ahLst/>
            <a:cxnLst/>
            <a:rect l="l" t="t" r="r" b="b"/>
            <a:pathLst>
              <a:path w="793561" h="812800">
                <a:moveTo>
                  <a:pt x="396780" y="0"/>
                </a:moveTo>
                <a:cubicBezTo>
                  <a:pt x="177645" y="0"/>
                  <a:pt x="0" y="181951"/>
                  <a:pt x="0" y="406400"/>
                </a:cubicBezTo>
                <a:cubicBezTo>
                  <a:pt x="0" y="630849"/>
                  <a:pt x="177645" y="812800"/>
                  <a:pt x="396780" y="812800"/>
                </a:cubicBezTo>
                <a:cubicBezTo>
                  <a:pt x="615916" y="812800"/>
                  <a:pt x="793561" y="630849"/>
                  <a:pt x="793561" y="406400"/>
                </a:cubicBezTo>
                <a:cubicBezTo>
                  <a:pt x="793561" y="181951"/>
                  <a:pt x="615916" y="0"/>
                  <a:pt x="396780" y="0"/>
                </a:cubicBezTo>
                <a:close/>
              </a:path>
            </a:pathLst>
          </a:custGeom>
          <a:gradFill rotWithShape="1">
            <a:gsLst>
              <a:gs pos="0">
                <a:srgbClr val="000000">
                  <a:alpha val="100000"/>
                </a:srgbClr>
              </a:gs>
              <a:gs pos="100000">
                <a:srgbClr val="3533CD">
                  <a:alpha val="100000"/>
                </a:srgbClr>
              </a:gs>
            </a:gsLst>
            <a:lin ang="0"/>
          </a:gradFill>
        </p:spPr>
      </p:sp>
      <p:grpSp>
        <p:nvGrpSpPr>
          <p:cNvPr id="69" name="Group 30">
            <a:extLst>
              <a:ext uri="{FF2B5EF4-FFF2-40B4-BE49-F238E27FC236}">
                <a16:creationId xmlns:a16="http://schemas.microsoft.com/office/drawing/2014/main" id="{0B75BECD-F35F-D6EA-4659-59E3E99296C0}"/>
              </a:ext>
            </a:extLst>
          </p:cNvPr>
          <p:cNvGrpSpPr/>
          <p:nvPr/>
        </p:nvGrpSpPr>
        <p:grpSpPr>
          <a:xfrm>
            <a:off x="9586095" y="5617178"/>
            <a:ext cx="2356787" cy="3708800"/>
            <a:chOff x="0" y="-38100"/>
            <a:chExt cx="1030682" cy="974823"/>
          </a:xfrm>
        </p:grpSpPr>
        <p:sp>
          <p:nvSpPr>
            <p:cNvPr id="70" name="Freeform 31">
              <a:extLst>
                <a:ext uri="{FF2B5EF4-FFF2-40B4-BE49-F238E27FC236}">
                  <a16:creationId xmlns:a16="http://schemas.microsoft.com/office/drawing/2014/main" id="{C6FFFEB4-1D63-EEA1-F198-97711549FDB4}"/>
                </a:ext>
              </a:extLst>
            </p:cNvPr>
            <p:cNvSpPr/>
            <p:nvPr/>
          </p:nvSpPr>
          <p:spPr>
            <a:xfrm>
              <a:off x="0" y="-1980"/>
              <a:ext cx="787560" cy="936723"/>
            </a:xfrm>
            <a:custGeom>
              <a:avLst/>
              <a:gdLst/>
              <a:ahLst/>
              <a:cxnLst/>
              <a:rect l="l" t="t" r="r" b="b"/>
              <a:pathLst>
                <a:path w="1030682" h="936723">
                  <a:moveTo>
                    <a:pt x="0" y="0"/>
                  </a:moveTo>
                  <a:lnTo>
                    <a:pt x="1030682" y="0"/>
                  </a:lnTo>
                  <a:lnTo>
                    <a:pt x="1030682" y="936723"/>
                  </a:lnTo>
                  <a:lnTo>
                    <a:pt x="0" y="936723"/>
                  </a:lnTo>
                  <a:close/>
                </a:path>
              </a:pathLst>
            </a:custGeom>
            <a:solidFill>
              <a:srgbClr val="FFFFFF">
                <a:alpha val="54902"/>
              </a:srgbClr>
            </a:solidFill>
            <a:ln w="38100" cap="sq">
              <a:solidFill>
                <a:srgbClr val="000000">
                  <a:alpha val="54902"/>
                </a:srgbClr>
              </a:solidFill>
              <a:prstDash val="solid"/>
              <a:miter/>
            </a:ln>
          </p:spPr>
        </p:sp>
        <p:sp>
          <p:nvSpPr>
            <p:cNvPr id="71" name="TextBox 32">
              <a:extLst>
                <a:ext uri="{FF2B5EF4-FFF2-40B4-BE49-F238E27FC236}">
                  <a16:creationId xmlns:a16="http://schemas.microsoft.com/office/drawing/2014/main" id="{624F09FB-8D39-6B41-AFA7-D24F8E5D0485}"/>
                </a:ext>
              </a:extLst>
            </p:cNvPr>
            <p:cNvSpPr txBox="1"/>
            <p:nvPr/>
          </p:nvSpPr>
          <p:spPr>
            <a:xfrm>
              <a:off x="0" y="-38100"/>
              <a:ext cx="1030682" cy="974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2" name="TextBox 23">
            <a:extLst>
              <a:ext uri="{FF2B5EF4-FFF2-40B4-BE49-F238E27FC236}">
                <a16:creationId xmlns:a16="http://schemas.microsoft.com/office/drawing/2014/main" id="{FE8464A2-CB27-EF46-0FDF-2E048598FA7A}"/>
              </a:ext>
            </a:extLst>
          </p:cNvPr>
          <p:cNvSpPr txBox="1"/>
          <p:nvPr/>
        </p:nvSpPr>
        <p:spPr>
          <a:xfrm>
            <a:off x="6916837" y="6727948"/>
            <a:ext cx="3266241" cy="178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b="1" spc="124">
                <a:solidFill>
                  <a:srgbClr val="000000"/>
                </a:solidFill>
                <a:latin typeface="Segoe UI"/>
                <a:ea typeface="ADLaM Display"/>
                <a:cs typeface="Segoe UI"/>
                <a:sym typeface="Inter"/>
              </a:rPr>
              <a:t>60%+</a:t>
            </a:r>
            <a:r>
              <a:rPr lang="en-US" sz="2800" b="1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 </a:t>
            </a:r>
            <a:endParaRPr lang="en-US" sz="2800" b="1" spc="124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Rework</a:t>
            </a:r>
            <a:endParaRPr lang="en-US" sz="2000" spc="124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from late </a:t>
            </a:r>
            <a:endParaRPr lang="en-US" sz="2000" spc="124">
              <a:solidFill>
                <a:srgbClr val="000000"/>
              </a:solidFill>
              <a:latin typeface="Segoe UI"/>
              <a:ea typeface="Inter"/>
              <a:cs typeface="Segoe UI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data issues</a:t>
            </a:r>
            <a:endParaRPr lang="en-US" sz="2000" spc="124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endParaRPr lang="en-US" sz="1600" spc="124">
              <a:latin typeface="ADLaM Display"/>
              <a:ea typeface="ADLaM Display"/>
              <a:cs typeface="ADLaM Display"/>
            </a:endParaRPr>
          </a:p>
        </p:txBody>
      </p:sp>
      <p:sp>
        <p:nvSpPr>
          <p:cNvPr id="73" name="TextBox 23">
            <a:extLst>
              <a:ext uri="{FF2B5EF4-FFF2-40B4-BE49-F238E27FC236}">
                <a16:creationId xmlns:a16="http://schemas.microsoft.com/office/drawing/2014/main" id="{2AB5E600-14B1-0A38-3148-0A3DFB741B4C}"/>
              </a:ext>
            </a:extLst>
          </p:cNvPr>
          <p:cNvSpPr txBox="1"/>
          <p:nvPr/>
        </p:nvSpPr>
        <p:spPr>
          <a:xfrm>
            <a:off x="9751777" y="6667790"/>
            <a:ext cx="3266241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b="1" spc="124">
                <a:solidFill>
                  <a:srgbClr val="000000"/>
                </a:solidFill>
                <a:latin typeface="Segoe UI"/>
                <a:ea typeface="ADLaM Display"/>
                <a:cs typeface="Segoe UI"/>
                <a:sym typeface="Inter"/>
              </a:rPr>
              <a:t>2–3x</a:t>
            </a:r>
            <a:r>
              <a:rPr lang="en-US" sz="4000" b="1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 </a:t>
            </a:r>
            <a:endParaRPr lang="en-US" sz="4000" b="1">
              <a:latin typeface="Segoe UI"/>
              <a:cs typeface="Segoe UI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Higher </a:t>
            </a:r>
            <a:endParaRPr lang="en-US" sz="2000">
              <a:latin typeface="Segoe UI"/>
              <a:cs typeface="Segoe UI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migration </a:t>
            </a:r>
            <a:endParaRPr lang="en-US" sz="2000">
              <a:solidFill>
                <a:srgbClr val="000000"/>
              </a:solidFill>
              <a:latin typeface="Segoe UI"/>
              <a:ea typeface="Inter"/>
              <a:cs typeface="Segoe UI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risk</a:t>
            </a:r>
            <a:endParaRPr lang="en-US" sz="2000">
              <a:latin typeface="Segoe UI"/>
              <a:cs typeface="Segoe UI"/>
            </a:endParaRPr>
          </a:p>
        </p:txBody>
      </p:sp>
      <p:grpSp>
        <p:nvGrpSpPr>
          <p:cNvPr id="74" name="Group 30">
            <a:extLst>
              <a:ext uri="{FF2B5EF4-FFF2-40B4-BE49-F238E27FC236}">
                <a16:creationId xmlns:a16="http://schemas.microsoft.com/office/drawing/2014/main" id="{61885664-B865-F66C-CC45-90EA7D938ACE}"/>
              </a:ext>
            </a:extLst>
          </p:cNvPr>
          <p:cNvGrpSpPr/>
          <p:nvPr/>
        </p:nvGrpSpPr>
        <p:grpSpPr>
          <a:xfrm>
            <a:off x="15173260" y="5594617"/>
            <a:ext cx="3559944" cy="3671203"/>
            <a:chOff x="0" y="-38100"/>
            <a:chExt cx="1030682" cy="974823"/>
          </a:xfrm>
        </p:grpSpPr>
        <p:sp>
          <p:nvSpPr>
            <p:cNvPr id="75" name="Freeform 31">
              <a:extLst>
                <a:ext uri="{FF2B5EF4-FFF2-40B4-BE49-F238E27FC236}">
                  <a16:creationId xmlns:a16="http://schemas.microsoft.com/office/drawing/2014/main" id="{922E23E0-802B-FC02-FCAE-7D0599EFAC48}"/>
                </a:ext>
              </a:extLst>
            </p:cNvPr>
            <p:cNvSpPr/>
            <p:nvPr/>
          </p:nvSpPr>
          <p:spPr>
            <a:xfrm>
              <a:off x="0" y="-1980"/>
              <a:ext cx="787560" cy="936723"/>
            </a:xfrm>
            <a:custGeom>
              <a:avLst/>
              <a:gdLst/>
              <a:ahLst/>
              <a:cxnLst/>
              <a:rect l="l" t="t" r="r" b="b"/>
              <a:pathLst>
                <a:path w="1030682" h="936723">
                  <a:moveTo>
                    <a:pt x="0" y="0"/>
                  </a:moveTo>
                  <a:lnTo>
                    <a:pt x="1030682" y="0"/>
                  </a:lnTo>
                  <a:lnTo>
                    <a:pt x="1030682" y="936723"/>
                  </a:lnTo>
                  <a:lnTo>
                    <a:pt x="0" y="936723"/>
                  </a:lnTo>
                  <a:close/>
                </a:path>
              </a:pathLst>
            </a:custGeom>
            <a:solidFill>
              <a:srgbClr val="FFFFFF">
                <a:alpha val="54902"/>
              </a:srgbClr>
            </a:solidFill>
            <a:ln w="38100" cap="sq">
              <a:solidFill>
                <a:srgbClr val="000000">
                  <a:alpha val="54902"/>
                </a:srgbClr>
              </a:solidFill>
              <a:prstDash val="solid"/>
              <a:miter/>
            </a:ln>
          </p:spPr>
        </p:sp>
        <p:sp>
          <p:nvSpPr>
            <p:cNvPr id="76" name="TextBox 32">
              <a:extLst>
                <a:ext uri="{FF2B5EF4-FFF2-40B4-BE49-F238E27FC236}">
                  <a16:creationId xmlns:a16="http://schemas.microsoft.com/office/drawing/2014/main" id="{30CEC83D-E94A-45C0-B32D-6072227BC184}"/>
                </a:ext>
              </a:extLst>
            </p:cNvPr>
            <p:cNvSpPr txBox="1"/>
            <p:nvPr/>
          </p:nvSpPr>
          <p:spPr>
            <a:xfrm>
              <a:off x="0" y="-38100"/>
              <a:ext cx="1030682" cy="974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7" name="Group 30">
            <a:extLst>
              <a:ext uri="{FF2B5EF4-FFF2-40B4-BE49-F238E27FC236}">
                <a16:creationId xmlns:a16="http://schemas.microsoft.com/office/drawing/2014/main" id="{A47BA81C-A368-7D0E-FBD8-B6164CB64A1B}"/>
              </a:ext>
            </a:extLst>
          </p:cNvPr>
          <p:cNvGrpSpPr/>
          <p:nvPr/>
        </p:nvGrpSpPr>
        <p:grpSpPr>
          <a:xfrm>
            <a:off x="12451114" y="4850163"/>
            <a:ext cx="2356787" cy="3708800"/>
            <a:chOff x="0" y="-38100"/>
            <a:chExt cx="1030682" cy="974823"/>
          </a:xfrm>
        </p:grpSpPr>
        <p:sp>
          <p:nvSpPr>
            <p:cNvPr id="78" name="Freeform 31">
              <a:extLst>
                <a:ext uri="{FF2B5EF4-FFF2-40B4-BE49-F238E27FC236}">
                  <a16:creationId xmlns:a16="http://schemas.microsoft.com/office/drawing/2014/main" id="{F6D0E8D3-2730-CACB-3A69-E8564CC0B0E0}"/>
                </a:ext>
              </a:extLst>
            </p:cNvPr>
            <p:cNvSpPr/>
            <p:nvPr/>
          </p:nvSpPr>
          <p:spPr>
            <a:xfrm>
              <a:off x="0" y="-1980"/>
              <a:ext cx="787560" cy="936723"/>
            </a:xfrm>
            <a:custGeom>
              <a:avLst/>
              <a:gdLst/>
              <a:ahLst/>
              <a:cxnLst/>
              <a:rect l="l" t="t" r="r" b="b"/>
              <a:pathLst>
                <a:path w="1030682" h="936723">
                  <a:moveTo>
                    <a:pt x="0" y="0"/>
                  </a:moveTo>
                  <a:lnTo>
                    <a:pt x="1030682" y="0"/>
                  </a:lnTo>
                  <a:lnTo>
                    <a:pt x="1030682" y="936723"/>
                  </a:lnTo>
                  <a:lnTo>
                    <a:pt x="0" y="936723"/>
                  </a:lnTo>
                  <a:close/>
                </a:path>
              </a:pathLst>
            </a:custGeom>
            <a:solidFill>
              <a:srgbClr val="FFFFFF">
                <a:alpha val="54902"/>
              </a:srgbClr>
            </a:solidFill>
            <a:ln w="38100" cap="sq">
              <a:solidFill>
                <a:srgbClr val="000000">
                  <a:alpha val="54902"/>
                </a:srgbClr>
              </a:solidFill>
              <a:prstDash val="solid"/>
              <a:miter/>
            </a:ln>
          </p:spPr>
        </p:sp>
        <p:sp>
          <p:nvSpPr>
            <p:cNvPr id="79" name="TextBox 32">
              <a:extLst>
                <a:ext uri="{FF2B5EF4-FFF2-40B4-BE49-F238E27FC236}">
                  <a16:creationId xmlns:a16="http://schemas.microsoft.com/office/drawing/2014/main" id="{2E50C5D5-BD55-1433-57F7-14AAD22DC004}"/>
                </a:ext>
              </a:extLst>
            </p:cNvPr>
            <p:cNvSpPr txBox="1"/>
            <p:nvPr/>
          </p:nvSpPr>
          <p:spPr>
            <a:xfrm>
              <a:off x="0" y="-38100"/>
              <a:ext cx="1030682" cy="974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3" name="TextBox 23">
            <a:extLst>
              <a:ext uri="{FF2B5EF4-FFF2-40B4-BE49-F238E27FC236}">
                <a16:creationId xmlns:a16="http://schemas.microsoft.com/office/drawing/2014/main" id="{3684A1AF-8118-C9B7-860E-43C2CFB06A8E}"/>
              </a:ext>
            </a:extLst>
          </p:cNvPr>
          <p:cNvSpPr txBox="1"/>
          <p:nvPr/>
        </p:nvSpPr>
        <p:spPr>
          <a:xfrm>
            <a:off x="12661915" y="5750382"/>
            <a:ext cx="3266241" cy="2092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b="1" spc="124">
                <a:solidFill>
                  <a:srgbClr val="000000"/>
                </a:solidFill>
                <a:latin typeface="Segoe UI"/>
                <a:ea typeface="ADLaM Display"/>
                <a:cs typeface="Segoe UI"/>
                <a:sym typeface="Inter"/>
              </a:rPr>
              <a:t>3–4 </a:t>
            </a:r>
            <a:endParaRPr lang="en-US" sz="4000" b="1" spc="124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ADLaM Display"/>
                <a:cs typeface="Segoe UI"/>
                <a:sym typeface="Inter"/>
              </a:rPr>
              <a:t>Months </a:t>
            </a:r>
            <a:endParaRPr lang="en-US" sz="2000" spc="124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delayed </a:t>
            </a:r>
            <a:endParaRPr lang="en-US" sz="2000" spc="124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time-to-</a:t>
            </a:r>
            <a:endParaRPr lang="en-US" sz="2000" spc="124">
              <a:solidFill>
                <a:srgbClr val="000000"/>
              </a:solidFill>
              <a:latin typeface="Segoe UI"/>
              <a:ea typeface="Calibri"/>
              <a:cs typeface="Segoe UI"/>
              <a:sym typeface="Inter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value</a:t>
            </a:r>
            <a:endParaRPr lang="en-US" sz="2000" spc="124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endParaRPr lang="en-US" sz="1600" spc="124">
              <a:latin typeface="ADLaM Display"/>
              <a:ea typeface="ADLaM Display"/>
              <a:cs typeface="ADLaM Display"/>
            </a:endParaRPr>
          </a:p>
        </p:txBody>
      </p:sp>
      <p:sp>
        <p:nvSpPr>
          <p:cNvPr id="84" name="TextBox 23">
            <a:extLst>
              <a:ext uri="{FF2B5EF4-FFF2-40B4-BE49-F238E27FC236}">
                <a16:creationId xmlns:a16="http://schemas.microsoft.com/office/drawing/2014/main" id="{A69C806B-89D5-3283-EA5A-1EE62E63F670}"/>
              </a:ext>
            </a:extLst>
          </p:cNvPr>
          <p:cNvSpPr txBox="1"/>
          <p:nvPr/>
        </p:nvSpPr>
        <p:spPr>
          <a:xfrm>
            <a:off x="15308862" y="6667789"/>
            <a:ext cx="3266241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b="1" spc="124">
                <a:solidFill>
                  <a:srgbClr val="000000"/>
                </a:solidFill>
                <a:latin typeface="Segoe UI"/>
                <a:ea typeface="ADLaM Display"/>
                <a:cs typeface="Segoe UI"/>
                <a:sym typeface="Inter"/>
              </a:rPr>
              <a:t>70%+ </a:t>
            </a:r>
            <a:endParaRPr lang="en-US" sz="4000" b="1" spc="124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US" sz="3200" b="1" spc="124">
                <a:solidFill>
                  <a:srgbClr val="000000"/>
                </a:solidFill>
                <a:latin typeface="Segoe UI"/>
                <a:ea typeface="ADLaM Display"/>
                <a:cs typeface="Segoe UI"/>
                <a:sym typeface="Inter"/>
              </a:rPr>
              <a:t>SME </a:t>
            </a:r>
            <a:endParaRPr lang="en-US" sz="3200" b="1" spc="124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US" sz="3200" b="1" spc="124">
                <a:solidFill>
                  <a:srgbClr val="000000"/>
                </a:solidFill>
                <a:latin typeface="Segoe UI"/>
                <a:ea typeface="ADLaM Display"/>
                <a:cs typeface="Segoe UI"/>
                <a:sym typeface="Inter"/>
              </a:rPr>
              <a:t>Dependency</a:t>
            </a:r>
            <a:r>
              <a:rPr lang="en-US" sz="2800" b="1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 </a:t>
            </a:r>
            <a:endParaRPr lang="en-US" sz="2800" spc="124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limiting </a:t>
            </a:r>
            <a:endParaRPr lang="en-US" sz="2000" spc="124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r>
              <a:rPr lang="en-US" sz="2000" spc="124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scalability</a:t>
            </a:r>
            <a:endParaRPr lang="en-US" sz="2000" spc="124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endParaRPr lang="en-US" sz="1600" spc="124">
              <a:latin typeface="ADLaM Display"/>
              <a:ea typeface="ADLaM Display"/>
              <a:cs typeface="ADLaM Display"/>
            </a:endParaRPr>
          </a:p>
        </p:txBody>
      </p:sp>
      <p:sp>
        <p:nvSpPr>
          <p:cNvPr id="86" name="Freeform 35">
            <a:extLst>
              <a:ext uri="{FF2B5EF4-FFF2-40B4-BE49-F238E27FC236}">
                <a16:creationId xmlns:a16="http://schemas.microsoft.com/office/drawing/2014/main" id="{E29CF368-E718-7DCA-B874-B9D474C170D5}"/>
              </a:ext>
            </a:extLst>
          </p:cNvPr>
          <p:cNvSpPr/>
          <p:nvPr/>
        </p:nvSpPr>
        <p:spPr>
          <a:xfrm>
            <a:off x="9753748" y="6194701"/>
            <a:ext cx="311391" cy="318940"/>
          </a:xfrm>
          <a:custGeom>
            <a:avLst/>
            <a:gdLst/>
            <a:ahLst/>
            <a:cxnLst/>
            <a:rect l="l" t="t" r="r" b="b"/>
            <a:pathLst>
              <a:path w="793561" h="812800">
                <a:moveTo>
                  <a:pt x="396780" y="0"/>
                </a:moveTo>
                <a:cubicBezTo>
                  <a:pt x="177645" y="0"/>
                  <a:pt x="0" y="181951"/>
                  <a:pt x="0" y="406400"/>
                </a:cubicBezTo>
                <a:cubicBezTo>
                  <a:pt x="0" y="630849"/>
                  <a:pt x="177645" y="812800"/>
                  <a:pt x="396780" y="812800"/>
                </a:cubicBezTo>
                <a:cubicBezTo>
                  <a:pt x="615916" y="812800"/>
                  <a:pt x="793561" y="630849"/>
                  <a:pt x="793561" y="406400"/>
                </a:cubicBezTo>
                <a:cubicBezTo>
                  <a:pt x="793561" y="181951"/>
                  <a:pt x="615916" y="0"/>
                  <a:pt x="396780" y="0"/>
                </a:cubicBezTo>
                <a:close/>
              </a:path>
            </a:pathLst>
          </a:custGeom>
          <a:gradFill rotWithShape="1">
            <a:gsLst>
              <a:gs pos="0">
                <a:srgbClr val="000000">
                  <a:alpha val="100000"/>
                </a:srgbClr>
              </a:gs>
              <a:gs pos="100000">
                <a:srgbClr val="3533CD">
                  <a:alpha val="100000"/>
                </a:srgbClr>
              </a:gs>
            </a:gsLst>
            <a:lin ang="0"/>
          </a:gradFill>
        </p:spPr>
      </p:sp>
      <p:sp>
        <p:nvSpPr>
          <p:cNvPr id="87" name="Freeform 35">
            <a:extLst>
              <a:ext uri="{FF2B5EF4-FFF2-40B4-BE49-F238E27FC236}">
                <a16:creationId xmlns:a16="http://schemas.microsoft.com/office/drawing/2014/main" id="{AA518ADA-CD3B-125A-66BE-0C13A502F55D}"/>
              </a:ext>
            </a:extLst>
          </p:cNvPr>
          <p:cNvSpPr/>
          <p:nvPr/>
        </p:nvSpPr>
        <p:spPr>
          <a:xfrm>
            <a:off x="15310832" y="6194701"/>
            <a:ext cx="311391" cy="318940"/>
          </a:xfrm>
          <a:custGeom>
            <a:avLst/>
            <a:gdLst/>
            <a:ahLst/>
            <a:cxnLst/>
            <a:rect l="l" t="t" r="r" b="b"/>
            <a:pathLst>
              <a:path w="793561" h="812800">
                <a:moveTo>
                  <a:pt x="396780" y="0"/>
                </a:moveTo>
                <a:cubicBezTo>
                  <a:pt x="177645" y="0"/>
                  <a:pt x="0" y="181951"/>
                  <a:pt x="0" y="406400"/>
                </a:cubicBezTo>
                <a:cubicBezTo>
                  <a:pt x="0" y="630849"/>
                  <a:pt x="177645" y="812800"/>
                  <a:pt x="396780" y="812800"/>
                </a:cubicBezTo>
                <a:cubicBezTo>
                  <a:pt x="615916" y="812800"/>
                  <a:pt x="793561" y="630849"/>
                  <a:pt x="793561" y="406400"/>
                </a:cubicBezTo>
                <a:cubicBezTo>
                  <a:pt x="793561" y="181951"/>
                  <a:pt x="615916" y="0"/>
                  <a:pt x="396780" y="0"/>
                </a:cubicBezTo>
                <a:close/>
              </a:path>
            </a:pathLst>
          </a:custGeom>
          <a:gradFill rotWithShape="1">
            <a:gsLst>
              <a:gs pos="0">
                <a:srgbClr val="000000">
                  <a:alpha val="100000"/>
                </a:srgbClr>
              </a:gs>
              <a:gs pos="100000">
                <a:srgbClr val="3533CD">
                  <a:alpha val="100000"/>
                </a:srgbClr>
              </a:gs>
            </a:gsLst>
            <a:lin ang="0"/>
          </a:gradFill>
        </p:spPr>
      </p:sp>
      <p:sp>
        <p:nvSpPr>
          <p:cNvPr id="88" name="Freeform 35">
            <a:extLst>
              <a:ext uri="{FF2B5EF4-FFF2-40B4-BE49-F238E27FC236}">
                <a16:creationId xmlns:a16="http://schemas.microsoft.com/office/drawing/2014/main" id="{2D2FA945-17A1-76B4-0561-5BC3D2DD1195}"/>
              </a:ext>
            </a:extLst>
          </p:cNvPr>
          <p:cNvSpPr/>
          <p:nvPr/>
        </p:nvSpPr>
        <p:spPr>
          <a:xfrm>
            <a:off x="12663884" y="5360010"/>
            <a:ext cx="311391" cy="318940"/>
          </a:xfrm>
          <a:custGeom>
            <a:avLst/>
            <a:gdLst/>
            <a:ahLst/>
            <a:cxnLst/>
            <a:rect l="l" t="t" r="r" b="b"/>
            <a:pathLst>
              <a:path w="793561" h="812800">
                <a:moveTo>
                  <a:pt x="396780" y="0"/>
                </a:moveTo>
                <a:cubicBezTo>
                  <a:pt x="177645" y="0"/>
                  <a:pt x="0" y="181951"/>
                  <a:pt x="0" y="406400"/>
                </a:cubicBezTo>
                <a:cubicBezTo>
                  <a:pt x="0" y="630849"/>
                  <a:pt x="177645" y="812800"/>
                  <a:pt x="396780" y="812800"/>
                </a:cubicBezTo>
                <a:cubicBezTo>
                  <a:pt x="615916" y="812800"/>
                  <a:pt x="793561" y="630849"/>
                  <a:pt x="793561" y="406400"/>
                </a:cubicBezTo>
                <a:cubicBezTo>
                  <a:pt x="793561" y="181951"/>
                  <a:pt x="615916" y="0"/>
                  <a:pt x="396780" y="0"/>
                </a:cubicBezTo>
                <a:close/>
              </a:path>
            </a:pathLst>
          </a:custGeom>
          <a:gradFill rotWithShape="1">
            <a:gsLst>
              <a:gs pos="0">
                <a:srgbClr val="000000">
                  <a:alpha val="100000"/>
                </a:srgbClr>
              </a:gs>
              <a:gs pos="100000">
                <a:srgbClr val="3533CD">
                  <a:alpha val="100000"/>
                </a:srgbClr>
              </a:gs>
            </a:gsLst>
            <a:lin ang="0"/>
          </a:gradFill>
        </p:spPr>
      </p:sp>
      <p:sp>
        <p:nvSpPr>
          <p:cNvPr id="92" name="Freeform 12">
            <a:extLst>
              <a:ext uri="{FF2B5EF4-FFF2-40B4-BE49-F238E27FC236}">
                <a16:creationId xmlns:a16="http://schemas.microsoft.com/office/drawing/2014/main" id="{CAA0B304-F7EB-ECF5-4C32-B749BC2518C3}"/>
              </a:ext>
            </a:extLst>
          </p:cNvPr>
          <p:cNvSpPr/>
          <p:nvPr/>
        </p:nvSpPr>
        <p:spPr>
          <a:xfrm flipV="1">
            <a:off x="11073517" y="3478067"/>
            <a:ext cx="869625" cy="521058"/>
          </a:xfrm>
          <a:custGeom>
            <a:avLst/>
            <a:gdLst/>
            <a:ahLst/>
            <a:cxnLst/>
            <a:rect l="l" t="t" r="r" b="b"/>
            <a:pathLst>
              <a:path w="726751" h="727218">
                <a:moveTo>
                  <a:pt x="0" y="0"/>
                </a:moveTo>
                <a:lnTo>
                  <a:pt x="726751" y="0"/>
                </a:lnTo>
                <a:lnTo>
                  <a:pt x="726751" y="727218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886496-3A5B-125A-1AF9-37F3B36F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6">
            <a:extLst>
              <a:ext uri="{FF2B5EF4-FFF2-40B4-BE49-F238E27FC236}">
                <a16:creationId xmlns:a16="http://schemas.microsoft.com/office/drawing/2014/main" id="{83E2F4E5-D8D7-C560-6DD8-01E65C34F406}"/>
              </a:ext>
            </a:extLst>
          </p:cNvPr>
          <p:cNvSpPr/>
          <p:nvPr/>
        </p:nvSpPr>
        <p:spPr>
          <a:xfrm>
            <a:off x="2547066" y="3837299"/>
            <a:ext cx="11631146" cy="900060"/>
          </a:xfrm>
          <a:custGeom>
            <a:avLst/>
            <a:gdLst/>
            <a:ahLst/>
            <a:cxnLst/>
            <a:rect l="l" t="t" r="r" b="b"/>
            <a:pathLst>
              <a:path w="3063347" h="237053">
                <a:moveTo>
                  <a:pt x="0" y="0"/>
                </a:moveTo>
                <a:lnTo>
                  <a:pt x="3063347" y="0"/>
                </a:lnTo>
                <a:lnTo>
                  <a:pt x="3063347" y="237053"/>
                </a:lnTo>
                <a:lnTo>
                  <a:pt x="0" y="237053"/>
                </a:lnTo>
                <a:close/>
              </a:path>
            </a:pathLst>
          </a:custGeom>
          <a:gradFill rotWithShape="1">
            <a:gsLst>
              <a:gs pos="0">
                <a:srgbClr val="D6E9FF">
                  <a:alpha val="67500"/>
                </a:srgbClr>
              </a:gs>
              <a:gs pos="100000">
                <a:srgbClr val="FFFFFF">
                  <a:alpha val="100000"/>
                </a:srgbClr>
              </a:gs>
            </a:gsLst>
            <a:lin ang="0"/>
          </a:gradFill>
        </p:spPr>
      </p:sp>
      <p:sp>
        <p:nvSpPr>
          <p:cNvPr id="87" name="Freeform 16">
            <a:extLst>
              <a:ext uri="{FF2B5EF4-FFF2-40B4-BE49-F238E27FC236}">
                <a16:creationId xmlns:a16="http://schemas.microsoft.com/office/drawing/2014/main" id="{C37A0531-8FA2-38E5-0149-105E9E3DCE9B}"/>
              </a:ext>
            </a:extLst>
          </p:cNvPr>
          <p:cNvSpPr/>
          <p:nvPr/>
        </p:nvSpPr>
        <p:spPr>
          <a:xfrm>
            <a:off x="2501947" y="9131194"/>
            <a:ext cx="11631146" cy="900060"/>
          </a:xfrm>
          <a:custGeom>
            <a:avLst/>
            <a:gdLst/>
            <a:ahLst/>
            <a:cxnLst/>
            <a:rect l="l" t="t" r="r" b="b"/>
            <a:pathLst>
              <a:path w="3063347" h="237053">
                <a:moveTo>
                  <a:pt x="0" y="0"/>
                </a:moveTo>
                <a:lnTo>
                  <a:pt x="3063347" y="0"/>
                </a:lnTo>
                <a:lnTo>
                  <a:pt x="3063347" y="237053"/>
                </a:lnTo>
                <a:lnTo>
                  <a:pt x="0" y="237053"/>
                </a:lnTo>
                <a:close/>
              </a:path>
            </a:pathLst>
          </a:custGeom>
          <a:gradFill rotWithShape="1">
            <a:gsLst>
              <a:gs pos="0">
                <a:srgbClr val="D6E9FF">
                  <a:alpha val="67500"/>
                </a:srgbClr>
              </a:gs>
              <a:gs pos="100000">
                <a:srgbClr val="FFFFFF">
                  <a:alpha val="100000"/>
                </a:srgbClr>
              </a:gs>
            </a:gsLst>
            <a:lin ang="0"/>
          </a:gradFill>
        </p:spPr>
      </p:sp>
      <p:sp>
        <p:nvSpPr>
          <p:cNvPr id="83" name="Freeform 16">
            <a:extLst>
              <a:ext uri="{FF2B5EF4-FFF2-40B4-BE49-F238E27FC236}">
                <a16:creationId xmlns:a16="http://schemas.microsoft.com/office/drawing/2014/main" id="{FF6B4BEE-1AA8-3BAD-5B73-23E038DB1CE1}"/>
              </a:ext>
            </a:extLst>
          </p:cNvPr>
          <p:cNvSpPr/>
          <p:nvPr/>
        </p:nvSpPr>
        <p:spPr>
          <a:xfrm>
            <a:off x="2501948" y="8100990"/>
            <a:ext cx="11631146" cy="900060"/>
          </a:xfrm>
          <a:custGeom>
            <a:avLst/>
            <a:gdLst/>
            <a:ahLst/>
            <a:cxnLst/>
            <a:rect l="l" t="t" r="r" b="b"/>
            <a:pathLst>
              <a:path w="3063347" h="237053">
                <a:moveTo>
                  <a:pt x="0" y="0"/>
                </a:moveTo>
                <a:lnTo>
                  <a:pt x="3063347" y="0"/>
                </a:lnTo>
                <a:lnTo>
                  <a:pt x="3063347" y="237053"/>
                </a:lnTo>
                <a:lnTo>
                  <a:pt x="0" y="237053"/>
                </a:lnTo>
                <a:close/>
              </a:path>
            </a:pathLst>
          </a:custGeom>
          <a:gradFill rotWithShape="1">
            <a:gsLst>
              <a:gs pos="0">
                <a:srgbClr val="D6E9FF">
                  <a:alpha val="67500"/>
                </a:srgbClr>
              </a:gs>
              <a:gs pos="100000">
                <a:srgbClr val="FFFFFF">
                  <a:alpha val="100000"/>
                </a:srgbClr>
              </a:gs>
            </a:gsLst>
            <a:lin ang="0"/>
          </a:gradFill>
        </p:spPr>
      </p:sp>
      <p:sp>
        <p:nvSpPr>
          <p:cNvPr id="80" name="Freeform 16">
            <a:extLst>
              <a:ext uri="{FF2B5EF4-FFF2-40B4-BE49-F238E27FC236}">
                <a16:creationId xmlns:a16="http://schemas.microsoft.com/office/drawing/2014/main" id="{82C22D77-B207-3145-AA34-BE55DA0DDC54}"/>
              </a:ext>
            </a:extLst>
          </p:cNvPr>
          <p:cNvSpPr/>
          <p:nvPr/>
        </p:nvSpPr>
        <p:spPr>
          <a:xfrm>
            <a:off x="2501948" y="7033188"/>
            <a:ext cx="11631146" cy="900060"/>
          </a:xfrm>
          <a:custGeom>
            <a:avLst/>
            <a:gdLst/>
            <a:ahLst/>
            <a:cxnLst/>
            <a:rect l="l" t="t" r="r" b="b"/>
            <a:pathLst>
              <a:path w="3063347" h="237053">
                <a:moveTo>
                  <a:pt x="0" y="0"/>
                </a:moveTo>
                <a:lnTo>
                  <a:pt x="3063347" y="0"/>
                </a:lnTo>
                <a:lnTo>
                  <a:pt x="3063347" y="237053"/>
                </a:lnTo>
                <a:lnTo>
                  <a:pt x="0" y="237053"/>
                </a:lnTo>
                <a:close/>
              </a:path>
            </a:pathLst>
          </a:custGeom>
          <a:gradFill rotWithShape="1">
            <a:gsLst>
              <a:gs pos="0">
                <a:srgbClr val="D6E9FF">
                  <a:alpha val="67500"/>
                </a:srgbClr>
              </a:gs>
              <a:gs pos="100000">
                <a:srgbClr val="FFFFFF">
                  <a:alpha val="100000"/>
                </a:srgbClr>
              </a:gs>
            </a:gsLst>
            <a:lin ang="0"/>
          </a:gradFill>
        </p:spPr>
      </p:sp>
      <p:sp>
        <p:nvSpPr>
          <p:cNvPr id="77" name="Freeform 16">
            <a:extLst>
              <a:ext uri="{FF2B5EF4-FFF2-40B4-BE49-F238E27FC236}">
                <a16:creationId xmlns:a16="http://schemas.microsoft.com/office/drawing/2014/main" id="{3DD3A680-6FDC-F92C-D3BB-633FF661B4EF}"/>
              </a:ext>
            </a:extLst>
          </p:cNvPr>
          <p:cNvSpPr/>
          <p:nvPr/>
        </p:nvSpPr>
        <p:spPr>
          <a:xfrm>
            <a:off x="2516987" y="5987944"/>
            <a:ext cx="11631146" cy="900060"/>
          </a:xfrm>
          <a:custGeom>
            <a:avLst/>
            <a:gdLst/>
            <a:ahLst/>
            <a:cxnLst/>
            <a:rect l="l" t="t" r="r" b="b"/>
            <a:pathLst>
              <a:path w="3063347" h="237053">
                <a:moveTo>
                  <a:pt x="0" y="0"/>
                </a:moveTo>
                <a:lnTo>
                  <a:pt x="3063347" y="0"/>
                </a:lnTo>
                <a:lnTo>
                  <a:pt x="3063347" y="237053"/>
                </a:lnTo>
                <a:lnTo>
                  <a:pt x="0" y="237053"/>
                </a:lnTo>
                <a:close/>
              </a:path>
            </a:pathLst>
          </a:custGeom>
          <a:gradFill rotWithShape="1">
            <a:gsLst>
              <a:gs pos="0">
                <a:srgbClr val="D6E9FF">
                  <a:alpha val="67500"/>
                </a:srgbClr>
              </a:gs>
              <a:gs pos="100000">
                <a:srgbClr val="FFFFFF">
                  <a:alpha val="100000"/>
                </a:srgbClr>
              </a:gs>
            </a:gsLst>
            <a:lin ang="0"/>
          </a:gradFill>
        </p:spPr>
      </p:sp>
      <p:sp>
        <p:nvSpPr>
          <p:cNvPr id="75" name="Freeform 16">
            <a:extLst>
              <a:ext uri="{FF2B5EF4-FFF2-40B4-BE49-F238E27FC236}">
                <a16:creationId xmlns:a16="http://schemas.microsoft.com/office/drawing/2014/main" id="{B329FD6D-B8AB-CAB1-A6E5-9772E7143C08}"/>
              </a:ext>
            </a:extLst>
          </p:cNvPr>
          <p:cNvSpPr/>
          <p:nvPr/>
        </p:nvSpPr>
        <p:spPr>
          <a:xfrm>
            <a:off x="2547067" y="4980300"/>
            <a:ext cx="11631146" cy="900060"/>
          </a:xfrm>
          <a:custGeom>
            <a:avLst/>
            <a:gdLst/>
            <a:ahLst/>
            <a:cxnLst/>
            <a:rect l="l" t="t" r="r" b="b"/>
            <a:pathLst>
              <a:path w="3063347" h="237053">
                <a:moveTo>
                  <a:pt x="0" y="0"/>
                </a:moveTo>
                <a:lnTo>
                  <a:pt x="3063347" y="0"/>
                </a:lnTo>
                <a:lnTo>
                  <a:pt x="3063347" y="237053"/>
                </a:lnTo>
                <a:lnTo>
                  <a:pt x="0" y="237053"/>
                </a:lnTo>
                <a:close/>
              </a:path>
            </a:pathLst>
          </a:custGeom>
          <a:gradFill rotWithShape="1">
            <a:gsLst>
              <a:gs pos="0">
                <a:srgbClr val="D6E9FF">
                  <a:alpha val="67500"/>
                </a:srgbClr>
              </a:gs>
              <a:gs pos="100000">
                <a:srgbClr val="FFFFFF">
                  <a:alpha val="100000"/>
                </a:srgbClr>
              </a:gs>
            </a:gsLst>
            <a:lin ang="0"/>
          </a:gradFill>
        </p:spPr>
      </p:sp>
      <p:grpSp>
        <p:nvGrpSpPr>
          <p:cNvPr id="2" name="Group 2"/>
          <p:cNvGrpSpPr/>
          <p:nvPr/>
        </p:nvGrpSpPr>
        <p:grpSpPr>
          <a:xfrm>
            <a:off x="1028700" y="1203071"/>
            <a:ext cx="626108" cy="98935"/>
            <a:chOff x="0" y="0"/>
            <a:chExt cx="164901" cy="260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377441"/>
            <a:ext cx="626108" cy="98935"/>
            <a:chOff x="0" y="0"/>
            <a:chExt cx="164901" cy="260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V="1">
            <a:off x="15040" y="6139343"/>
            <a:ext cx="4559335" cy="4114800"/>
          </a:xfrm>
          <a:custGeom>
            <a:avLst/>
            <a:gdLst/>
            <a:ahLst/>
            <a:cxnLst/>
            <a:rect l="l" t="t" r="r" b="b"/>
            <a:pathLst>
              <a:path w="4559335" h="4114800">
                <a:moveTo>
                  <a:pt x="0" y="4114800"/>
                </a:moveTo>
                <a:lnTo>
                  <a:pt x="4559335" y="4114800"/>
                </a:lnTo>
                <a:lnTo>
                  <a:pt x="455933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494198" y="2795880"/>
            <a:ext cx="318940" cy="31894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406575" flipH="1">
            <a:off x="521928" y="3010346"/>
            <a:ext cx="1018079" cy="1450631"/>
          </a:xfrm>
          <a:custGeom>
            <a:avLst/>
            <a:gdLst/>
            <a:ahLst/>
            <a:cxnLst/>
            <a:rect l="l" t="t" r="r" b="b"/>
            <a:pathLst>
              <a:path w="1018079" h="1450631">
                <a:moveTo>
                  <a:pt x="1018079" y="0"/>
                </a:moveTo>
                <a:lnTo>
                  <a:pt x="0" y="0"/>
                </a:lnTo>
                <a:lnTo>
                  <a:pt x="0" y="1450631"/>
                </a:lnTo>
                <a:lnTo>
                  <a:pt x="1018079" y="1450631"/>
                </a:lnTo>
                <a:lnTo>
                  <a:pt x="101807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016170" y="3110675"/>
            <a:ext cx="12566399" cy="767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GB" sz="2400" b="1" spc="119">
                <a:solidFill>
                  <a:srgbClr val="000000"/>
                </a:solidFill>
                <a:latin typeface="Segoe UI"/>
                <a:ea typeface="Inter"/>
                <a:cs typeface="Segoe UI"/>
                <a:sym typeface="Inter"/>
              </a:rPr>
              <a:t>What If Onboarding Had a Copilot?</a:t>
            </a:r>
            <a:endParaRPr lang="en-US" sz="2400" spc="119">
              <a:solidFill>
                <a:srgbClr val="000000"/>
              </a:solidFill>
              <a:latin typeface="Segoe UI"/>
              <a:ea typeface="Inter"/>
              <a:cs typeface="Segoe UI"/>
              <a:sym typeface="Inter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350" spc="119">
              <a:solidFill>
                <a:srgbClr val="000000"/>
              </a:solidFill>
              <a:latin typeface="Inter"/>
              <a:ea typeface="Inter"/>
              <a:cs typeface="Inter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1028700" y="1028700"/>
            <a:ext cx="626108" cy="98935"/>
            <a:chOff x="0" y="0"/>
            <a:chExt cx="164901" cy="2605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13">
            <a:extLst>
              <a:ext uri="{FF2B5EF4-FFF2-40B4-BE49-F238E27FC236}">
                <a16:creationId xmlns:a16="http://schemas.microsoft.com/office/drawing/2014/main" id="{C4967867-834B-52DC-0978-6EB66B449B5B}"/>
              </a:ext>
            </a:extLst>
          </p:cNvPr>
          <p:cNvSpPr txBox="1"/>
          <p:nvPr/>
        </p:nvSpPr>
        <p:spPr>
          <a:xfrm>
            <a:off x="2027366" y="445708"/>
            <a:ext cx="15314651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000" b="1" spc="160">
                <a:solidFill>
                  <a:srgbClr val="000000"/>
                </a:solidFill>
                <a:latin typeface="Inter Ultra-Bold"/>
                <a:ea typeface="Inter Ultra-Bold"/>
                <a:sym typeface="Inter Ultra-Bold"/>
              </a:rPr>
              <a:t>FROM MANUAL TO INTELLIGENT</a:t>
            </a:r>
            <a:endParaRPr lang="en-US" sz="8000" b="1" spc="160">
              <a:solidFill>
                <a:srgbClr val="000000"/>
              </a:solidFill>
              <a:latin typeface="Inter Ultra-Bold"/>
              <a:ea typeface="Inter Ultra-Bold"/>
            </a:endParaRPr>
          </a:p>
          <a:p>
            <a:pPr algn="r">
              <a:spcBef>
                <a:spcPct val="0"/>
              </a:spcBef>
            </a:pPr>
            <a:endParaRPr lang="en-US" sz="8000" b="1" spc="160">
              <a:solidFill>
                <a:srgbClr val="000000"/>
              </a:solidFill>
              <a:latin typeface="Inter Ultra-Bold"/>
              <a:ea typeface="Inter Ultra-Bold"/>
              <a:cs typeface="Inter Ultra-Bold"/>
            </a:endParaRPr>
          </a:p>
        </p:txBody>
      </p:sp>
      <p:sp>
        <p:nvSpPr>
          <p:cNvPr id="42" name="TextBox 26">
            <a:extLst>
              <a:ext uri="{FF2B5EF4-FFF2-40B4-BE49-F238E27FC236}">
                <a16:creationId xmlns:a16="http://schemas.microsoft.com/office/drawing/2014/main" id="{3D9EA9AD-E05B-8517-8591-87DE4AC7301D}"/>
              </a:ext>
            </a:extLst>
          </p:cNvPr>
          <p:cNvSpPr txBox="1"/>
          <p:nvPr/>
        </p:nvSpPr>
        <p:spPr>
          <a:xfrm>
            <a:off x="13205775" y="557964"/>
            <a:ext cx="4575896" cy="45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99"/>
              </a:lnSpc>
              <a:spcBef>
                <a:spcPct val="0"/>
              </a:spcBef>
            </a:pPr>
            <a:r>
              <a:rPr lang="en-US" b="1">
                <a:solidFill>
                  <a:srgbClr val="2120A6"/>
                </a:solidFill>
                <a:latin typeface="Segoe UI"/>
                <a:ea typeface="Inter Heavy"/>
                <a:cs typeface="Segoe UI"/>
              </a:rPr>
              <a:t>DE Hackathon 26</a:t>
            </a:r>
          </a:p>
        </p:txBody>
      </p:sp>
      <p:sp>
        <p:nvSpPr>
          <p:cNvPr id="44" name="Freeform 12">
            <a:extLst>
              <a:ext uri="{FF2B5EF4-FFF2-40B4-BE49-F238E27FC236}">
                <a16:creationId xmlns:a16="http://schemas.microsoft.com/office/drawing/2014/main" id="{6832C895-DBE3-CDB7-7EA8-3DDBF2E03F37}"/>
              </a:ext>
            </a:extLst>
          </p:cNvPr>
          <p:cNvSpPr/>
          <p:nvPr/>
        </p:nvSpPr>
        <p:spPr>
          <a:xfrm flipV="1">
            <a:off x="10742648" y="2259870"/>
            <a:ext cx="1899829" cy="1077518"/>
          </a:xfrm>
          <a:custGeom>
            <a:avLst/>
            <a:gdLst/>
            <a:ahLst/>
            <a:cxnLst/>
            <a:rect l="l" t="t" r="r" b="b"/>
            <a:pathLst>
              <a:path w="726751" h="727218">
                <a:moveTo>
                  <a:pt x="0" y="0"/>
                </a:moveTo>
                <a:lnTo>
                  <a:pt x="726751" y="0"/>
                </a:lnTo>
                <a:lnTo>
                  <a:pt x="726751" y="727218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70" name="Graphic 12" descr="Magnifying glass with solid fill">
            <a:extLst>
              <a:ext uri="{FF2B5EF4-FFF2-40B4-BE49-F238E27FC236}">
                <a16:creationId xmlns:a16="http://schemas.microsoft.com/office/drawing/2014/main" id="{35ACE8EB-FB19-BE52-6B17-8A18F7E141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6849" y="4137127"/>
            <a:ext cx="485158" cy="470179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23FC53A8-41EC-894F-D6C4-B15AD30CACEE}"/>
              </a:ext>
            </a:extLst>
          </p:cNvPr>
          <p:cNvSpPr txBox="1"/>
          <p:nvPr/>
        </p:nvSpPr>
        <p:spPr>
          <a:xfrm>
            <a:off x="3361323" y="5143500"/>
            <a:ext cx="9144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Find hidden risks before they find you</a:t>
            </a:r>
            <a:r>
              <a:rPr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​</a:t>
            </a:r>
            <a:endParaRPr lang="en-GB" sz="2800">
              <a:solidFill>
                <a:srgbClr val="000000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GB"/>
          </a:p>
        </p:txBody>
      </p:sp>
      <p:pic>
        <p:nvPicPr>
          <p:cNvPr id="73" name="Graphic 20" descr="Downstairs with solid fill">
            <a:extLst>
              <a:ext uri="{FF2B5EF4-FFF2-40B4-BE49-F238E27FC236}">
                <a16:creationId xmlns:a16="http://schemas.microsoft.com/office/drawing/2014/main" id="{FE847ED9-3D21-E5CC-F38A-0228083B92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54186" y="5146547"/>
            <a:ext cx="495142" cy="475169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731EF367-0650-87FE-EAE3-CAA9B263441D}"/>
              </a:ext>
            </a:extLst>
          </p:cNvPr>
          <p:cNvSpPr txBox="1"/>
          <p:nvPr/>
        </p:nvSpPr>
        <p:spPr>
          <a:xfrm>
            <a:off x="3331244" y="6090987"/>
            <a:ext cx="9144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Map systems intelligently, not manually</a:t>
            </a:r>
            <a:r>
              <a:rPr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​</a:t>
            </a:r>
            <a:endParaRPr lang="en-GB" sz="2800">
              <a:solidFill>
                <a:srgbClr val="000000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GB"/>
          </a:p>
        </p:txBody>
      </p:sp>
      <p:pic>
        <p:nvPicPr>
          <p:cNvPr id="78" name="Graphic 21" descr="Link with solid fill">
            <a:extLst>
              <a:ext uri="{FF2B5EF4-FFF2-40B4-BE49-F238E27FC236}">
                <a16:creationId xmlns:a16="http://schemas.microsoft.com/office/drawing/2014/main" id="{BE10157F-381D-DC99-8A49-644AE57C5B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53969" y="6188703"/>
            <a:ext cx="565018" cy="495135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D6D4BFF5-B48A-EC91-7ABE-619A783B0E26}"/>
              </a:ext>
            </a:extLst>
          </p:cNvPr>
          <p:cNvSpPr txBox="1"/>
          <p:nvPr/>
        </p:nvSpPr>
        <p:spPr>
          <a:xfrm>
            <a:off x="3316205" y="7136231"/>
            <a:ext cx="9144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Create migration plans at the speed of AI​</a:t>
            </a:r>
          </a:p>
          <a:p>
            <a:pPr algn="ctr"/>
            <a:endParaRPr lang="en-US"/>
          </a:p>
        </p:txBody>
      </p:sp>
      <p:pic>
        <p:nvPicPr>
          <p:cNvPr id="81" name="Graphic 22" descr="Document with solid fill">
            <a:extLst>
              <a:ext uri="{FF2B5EF4-FFF2-40B4-BE49-F238E27FC236}">
                <a16:creationId xmlns:a16="http://schemas.microsoft.com/office/drawing/2014/main" id="{9915FC3B-2055-BE68-46D0-EE07BF02B5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09071" y="7235851"/>
            <a:ext cx="540061" cy="505117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C4C71133-8B3F-F7C8-81AF-8015433F399A}"/>
              </a:ext>
            </a:extLst>
          </p:cNvPr>
          <p:cNvSpPr txBox="1"/>
          <p:nvPr/>
        </p:nvSpPr>
        <p:spPr>
          <a:xfrm>
            <a:off x="3361323" y="8204033"/>
            <a:ext cx="9144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Know exactly when you're ready to migrate</a:t>
            </a:r>
            <a:r>
              <a:rPr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​</a:t>
            </a:r>
            <a:endParaRPr lang="en-GB" sz="2800">
              <a:solidFill>
                <a:srgbClr val="000000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GB"/>
          </a:p>
        </p:txBody>
      </p:sp>
      <p:pic>
        <p:nvPicPr>
          <p:cNvPr id="84" name="Graphic 23" descr="Bullseye with solid fill">
            <a:extLst>
              <a:ext uri="{FF2B5EF4-FFF2-40B4-BE49-F238E27FC236}">
                <a16:creationId xmlns:a16="http://schemas.microsoft.com/office/drawing/2014/main" id="{9414C26F-A769-81C9-8245-D1A9A558E8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76528" y="8200282"/>
            <a:ext cx="555035" cy="510109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D220F789-E26B-FA26-64FF-D5F6DBDDDF59}"/>
              </a:ext>
            </a:extLst>
          </p:cNvPr>
          <p:cNvSpPr txBox="1"/>
          <p:nvPr/>
        </p:nvSpPr>
        <p:spPr>
          <a:xfrm>
            <a:off x="3361322" y="9234237"/>
            <a:ext cx="9144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Chart the fastest path to go-live</a:t>
            </a:r>
            <a:r>
              <a:rPr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​</a:t>
            </a:r>
            <a:endParaRPr lang="en-GB" sz="2800">
              <a:solidFill>
                <a:srgbClr val="000000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GB"/>
          </a:p>
        </p:txBody>
      </p:sp>
      <p:pic>
        <p:nvPicPr>
          <p:cNvPr id="86" name="Graphic 24" descr="Clock with solid fill">
            <a:extLst>
              <a:ext uri="{FF2B5EF4-FFF2-40B4-BE49-F238E27FC236}">
                <a16:creationId xmlns:a16="http://schemas.microsoft.com/office/drawing/2014/main" id="{617AA797-DCAB-DDD6-4677-2E4F729FBC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53969" y="9302465"/>
            <a:ext cx="530079" cy="510108"/>
          </a:xfrm>
          <a:prstGeom prst="rect">
            <a:avLst/>
          </a:prstGeom>
        </p:spPr>
      </p:pic>
      <p:grpSp>
        <p:nvGrpSpPr>
          <p:cNvPr id="91" name="Group 16">
            <a:extLst>
              <a:ext uri="{FF2B5EF4-FFF2-40B4-BE49-F238E27FC236}">
                <a16:creationId xmlns:a16="http://schemas.microsoft.com/office/drawing/2014/main" id="{F10B3545-0F80-8FD2-870C-B5030346D6A4}"/>
              </a:ext>
            </a:extLst>
          </p:cNvPr>
          <p:cNvGrpSpPr/>
          <p:nvPr/>
        </p:nvGrpSpPr>
        <p:grpSpPr>
          <a:xfrm>
            <a:off x="11693891" y="4741727"/>
            <a:ext cx="5647740" cy="2295069"/>
            <a:chOff x="0" y="-38100"/>
            <a:chExt cx="1172570" cy="511379"/>
          </a:xfrm>
        </p:grpSpPr>
        <p:sp>
          <p:nvSpPr>
            <p:cNvPr id="89" name="Freeform 17">
              <a:extLst>
                <a:ext uri="{FF2B5EF4-FFF2-40B4-BE49-F238E27FC236}">
                  <a16:creationId xmlns:a16="http://schemas.microsoft.com/office/drawing/2014/main" id="{710469D7-6519-B413-C758-148536DFEB7D}"/>
                </a:ext>
              </a:extLst>
            </p:cNvPr>
            <p:cNvSpPr/>
            <p:nvPr/>
          </p:nvSpPr>
          <p:spPr>
            <a:xfrm>
              <a:off x="0" y="0"/>
              <a:ext cx="1172570" cy="473279"/>
            </a:xfrm>
            <a:custGeom>
              <a:avLst/>
              <a:gdLst/>
              <a:ahLst/>
              <a:cxnLst/>
              <a:rect l="l" t="t" r="r" b="b"/>
              <a:pathLst>
                <a:path w="1172570" h="473279">
                  <a:moveTo>
                    <a:pt x="0" y="0"/>
                  </a:moveTo>
                  <a:lnTo>
                    <a:pt x="1172570" y="0"/>
                  </a:lnTo>
                  <a:lnTo>
                    <a:pt x="1172570" y="473279"/>
                  </a:lnTo>
                  <a:lnTo>
                    <a:pt x="0" y="47327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" name="TextBox 18">
              <a:extLst>
                <a:ext uri="{FF2B5EF4-FFF2-40B4-BE49-F238E27FC236}">
                  <a16:creationId xmlns:a16="http://schemas.microsoft.com/office/drawing/2014/main" id="{FA994818-BF12-1618-3EB7-2DE004B3B1CB}"/>
                </a:ext>
              </a:extLst>
            </p:cNvPr>
            <p:cNvSpPr txBox="1"/>
            <p:nvPr/>
          </p:nvSpPr>
          <p:spPr>
            <a:xfrm>
              <a:off x="0" y="-38100"/>
              <a:ext cx="1172570" cy="511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B63E10CE-BF7A-AEBC-3AD6-2FB557158D67}"/>
              </a:ext>
            </a:extLst>
          </p:cNvPr>
          <p:cNvSpPr txBox="1"/>
          <p:nvPr/>
        </p:nvSpPr>
        <p:spPr>
          <a:xfrm>
            <a:off x="12640678" y="5196138"/>
            <a:ext cx="9144000" cy="20390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>
                <a:solidFill>
                  <a:srgbClr val="262626"/>
                </a:solidFill>
                <a:latin typeface="Segoe UI"/>
                <a:cs typeface="Segoe UI"/>
              </a:rPr>
              <a:t>Meet </a:t>
            </a:r>
            <a:r>
              <a:rPr lang="en-GB" sz="2800" b="1" noProof="1">
                <a:solidFill>
                  <a:srgbClr val="262626"/>
                </a:solidFill>
                <a:latin typeface="Segoe UI"/>
                <a:cs typeface="Segoe UI"/>
              </a:rPr>
              <a:t>OnboardIQ</a:t>
            </a:r>
            <a:r>
              <a:rPr lang="en-GB" sz="2800" b="1">
                <a:solidFill>
                  <a:srgbClr val="262626"/>
                </a:solidFill>
                <a:latin typeface="Segoe UI"/>
                <a:cs typeface="Segoe UI"/>
              </a:rPr>
              <a:t>: </a:t>
            </a:r>
            <a:endParaRPr lang="en-GB" sz="2800">
              <a:solidFill>
                <a:srgbClr val="000000"/>
              </a:solidFill>
              <a:latin typeface="Segoe UI"/>
              <a:ea typeface="Inter"/>
              <a:cs typeface="Segoe UI"/>
            </a:endParaRPr>
          </a:p>
          <a:p>
            <a:r>
              <a:rPr lang="en-GB" sz="2800" b="1">
                <a:solidFill>
                  <a:srgbClr val="262626"/>
                </a:solidFill>
                <a:latin typeface="Segoe UI"/>
                <a:cs typeface="Segoe UI"/>
              </a:rPr>
              <a:t>Your Enterprise Onboarding </a:t>
            </a:r>
            <a:endParaRPr lang="en-GB" sz="2800">
              <a:solidFill>
                <a:srgbClr val="000000"/>
              </a:solidFill>
              <a:latin typeface="Segoe UI"/>
              <a:ea typeface="Inter"/>
              <a:cs typeface="Segoe UI"/>
            </a:endParaRPr>
          </a:p>
          <a:p>
            <a:r>
              <a:rPr lang="en-GB" sz="2800" b="1">
                <a:solidFill>
                  <a:srgbClr val="262626"/>
                </a:solidFill>
                <a:latin typeface="Segoe UI"/>
                <a:cs typeface="Segoe UI"/>
              </a:rPr>
              <a:t>Copilot </a:t>
            </a:r>
            <a:endParaRPr lang="en-GB" sz="2800">
              <a:solidFill>
                <a:srgbClr val="000000"/>
              </a:solidFill>
              <a:latin typeface="Segoe UI"/>
              <a:ea typeface="Inter"/>
              <a:cs typeface="Segoe UI"/>
            </a:endParaRPr>
          </a:p>
          <a:p>
            <a:endParaRPr lang="en-GB" sz="2450">
              <a:latin typeface="Inter"/>
              <a:ea typeface="Inter"/>
            </a:endParaRPr>
          </a:p>
          <a:p>
            <a:pPr algn="ctr"/>
            <a:endParaRPr lang="en-GB"/>
          </a:p>
        </p:txBody>
      </p:sp>
      <p:sp>
        <p:nvSpPr>
          <p:cNvPr id="94" name="Freeform 12">
            <a:extLst>
              <a:ext uri="{FF2B5EF4-FFF2-40B4-BE49-F238E27FC236}">
                <a16:creationId xmlns:a16="http://schemas.microsoft.com/office/drawing/2014/main" id="{3FEC2558-C638-DB3B-FBD4-EDBF5C2BBA0F}"/>
              </a:ext>
            </a:extLst>
          </p:cNvPr>
          <p:cNvSpPr/>
          <p:nvPr/>
        </p:nvSpPr>
        <p:spPr>
          <a:xfrm>
            <a:off x="11812632" y="5101652"/>
            <a:ext cx="628249" cy="524588"/>
          </a:xfrm>
          <a:custGeom>
            <a:avLst/>
            <a:gdLst/>
            <a:ahLst/>
            <a:cxnLst/>
            <a:rect l="l" t="t" r="r" b="b"/>
            <a:pathLst>
              <a:path w="628249" h="524588">
                <a:moveTo>
                  <a:pt x="0" y="0"/>
                </a:moveTo>
                <a:lnTo>
                  <a:pt x="628249" y="0"/>
                </a:lnTo>
                <a:lnTo>
                  <a:pt x="628249" y="524587"/>
                </a:lnTo>
                <a:lnTo>
                  <a:pt x="0" y="5245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A9EE4F-F739-7D91-06AB-8FA267EB2CF3}"/>
              </a:ext>
            </a:extLst>
          </p:cNvPr>
          <p:cNvSpPr txBox="1"/>
          <p:nvPr/>
        </p:nvSpPr>
        <p:spPr>
          <a:xfrm>
            <a:off x="3361323" y="4120816"/>
            <a:ext cx="9144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Turn data chaos into clarity</a:t>
            </a:r>
            <a:r>
              <a:rPr sz="280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​</a:t>
            </a:r>
            <a:endParaRPr lang="en-GB" sz="2800">
              <a:solidFill>
                <a:srgbClr val="000000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GB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6B302ED-B46C-5E26-505C-5B52CBFE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6E9FF">
                <a:alpha val="675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203071"/>
            <a:ext cx="626108" cy="98935"/>
            <a:chOff x="0" y="0"/>
            <a:chExt cx="164901" cy="260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377441"/>
            <a:ext cx="626108" cy="98935"/>
            <a:chOff x="0" y="0"/>
            <a:chExt cx="164901" cy="260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1028700"/>
            <a:ext cx="626108" cy="98935"/>
            <a:chOff x="0" y="0"/>
            <a:chExt cx="164901" cy="260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flipH="1" flipV="1">
            <a:off x="13728665" y="246647"/>
            <a:ext cx="4559335" cy="4114800"/>
          </a:xfrm>
          <a:custGeom>
            <a:avLst/>
            <a:gdLst/>
            <a:ahLst/>
            <a:cxnLst/>
            <a:rect l="l" t="t" r="r" b="b"/>
            <a:pathLst>
              <a:path w="4559335" h="4114800">
                <a:moveTo>
                  <a:pt x="455933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59335" y="0"/>
                </a:lnTo>
                <a:lnTo>
                  <a:pt x="4559335" y="411480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870910" y="579897"/>
            <a:ext cx="11638843" cy="4139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950" b="1" spc="179">
                <a:solidFill>
                  <a:srgbClr val="000000"/>
                </a:solidFill>
                <a:latin typeface="Inter Ultra-Bold"/>
                <a:ea typeface="Inter Ultra-Bold"/>
                <a:sym typeface="Inter Ultra-Bold"/>
              </a:rPr>
              <a:t>BEHIND THE INTELLIGENCE</a:t>
            </a:r>
            <a:endParaRPr lang="en-US" sz="8950" b="1" spc="179">
              <a:latin typeface="Inter Ultra-Bold"/>
              <a:ea typeface="Inter Ultra-Bold"/>
            </a:endParaRPr>
          </a:p>
          <a:p>
            <a:pPr>
              <a:spcBef>
                <a:spcPct val="0"/>
              </a:spcBef>
            </a:pPr>
            <a:endParaRPr lang="en-US" sz="8999" b="1" spc="179">
              <a:solidFill>
                <a:srgbClr val="000000"/>
              </a:solidFill>
              <a:latin typeface="Inter Ultra-Bold"/>
              <a:ea typeface="Inter Ultra-Bold"/>
            </a:endParaRPr>
          </a:p>
        </p:txBody>
      </p:sp>
      <p:sp>
        <p:nvSpPr>
          <p:cNvPr id="26" name="Freeform 26"/>
          <p:cNvSpPr/>
          <p:nvPr/>
        </p:nvSpPr>
        <p:spPr>
          <a:xfrm flipV="1">
            <a:off x="135355" y="6174359"/>
            <a:ext cx="4559335" cy="4114800"/>
          </a:xfrm>
          <a:custGeom>
            <a:avLst/>
            <a:gdLst/>
            <a:ahLst/>
            <a:cxnLst/>
            <a:rect l="l" t="t" r="r" b="b"/>
            <a:pathLst>
              <a:path w="4559335" h="4114800">
                <a:moveTo>
                  <a:pt x="0" y="4114800"/>
                </a:moveTo>
                <a:lnTo>
                  <a:pt x="4559335" y="4114800"/>
                </a:lnTo>
                <a:lnTo>
                  <a:pt x="455933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27" name="Picture 26" descr="A diagram of a service process&#10;&#10;AI-generated content may be incorrect.">
            <a:extLst>
              <a:ext uri="{FF2B5EF4-FFF2-40B4-BE49-F238E27FC236}">
                <a16:creationId xmlns:a16="http://schemas.microsoft.com/office/drawing/2014/main" id="{3169DA63-2465-D3DF-80BD-4F1633DA7C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93"/>
          <a:stretch>
            <a:fillRect/>
          </a:stretch>
        </p:blipFill>
        <p:spPr>
          <a:xfrm>
            <a:off x="2753478" y="3212183"/>
            <a:ext cx="13051756" cy="6695059"/>
          </a:xfrm>
          <a:prstGeom prst="rect">
            <a:avLst/>
          </a:prstGeom>
        </p:spPr>
      </p:pic>
      <p:sp>
        <p:nvSpPr>
          <p:cNvPr id="29" name="TextBox 26">
            <a:extLst>
              <a:ext uri="{FF2B5EF4-FFF2-40B4-BE49-F238E27FC236}">
                <a16:creationId xmlns:a16="http://schemas.microsoft.com/office/drawing/2014/main" id="{C165653E-2FB5-020A-A713-B5A3CBF323DF}"/>
              </a:ext>
            </a:extLst>
          </p:cNvPr>
          <p:cNvSpPr txBox="1"/>
          <p:nvPr/>
        </p:nvSpPr>
        <p:spPr>
          <a:xfrm>
            <a:off x="13205775" y="557964"/>
            <a:ext cx="4575896" cy="45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99"/>
              </a:lnSpc>
              <a:spcBef>
                <a:spcPct val="0"/>
              </a:spcBef>
            </a:pPr>
            <a:r>
              <a:rPr lang="en-US" b="1">
                <a:solidFill>
                  <a:srgbClr val="2120A6"/>
                </a:solidFill>
                <a:latin typeface="Segoe UI"/>
                <a:ea typeface="Inter Heavy"/>
                <a:cs typeface="Segoe UI"/>
              </a:rPr>
              <a:t>DE Hackathon 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C2C251-08CD-26B7-9277-ADDEB8D2E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6E9FF">
                <a:alpha val="675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53E9F-4795-33FA-FB4F-53E926422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426FF9D-DBF5-490F-159C-8DBBE37B1C62}"/>
              </a:ext>
            </a:extLst>
          </p:cNvPr>
          <p:cNvGrpSpPr/>
          <p:nvPr/>
        </p:nvGrpSpPr>
        <p:grpSpPr>
          <a:xfrm>
            <a:off x="1028700" y="1203071"/>
            <a:ext cx="626108" cy="98935"/>
            <a:chOff x="0" y="0"/>
            <a:chExt cx="164901" cy="2605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F8DBCAA-FFEF-7A50-09DB-B17588BC865A}"/>
                </a:ext>
              </a:extLst>
            </p:cNvPr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3077E42-9119-2F1A-24F3-0981727592E2}"/>
                </a:ext>
              </a:extLst>
            </p:cNvPr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6AD32E2-4966-FAED-0253-3BD1792FA406}"/>
              </a:ext>
            </a:extLst>
          </p:cNvPr>
          <p:cNvGrpSpPr/>
          <p:nvPr/>
        </p:nvGrpSpPr>
        <p:grpSpPr>
          <a:xfrm>
            <a:off x="1028700" y="1377441"/>
            <a:ext cx="626108" cy="98935"/>
            <a:chOff x="0" y="0"/>
            <a:chExt cx="164901" cy="2605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101CABA-B518-D92B-C956-1DB696D0A845}"/>
                </a:ext>
              </a:extLst>
            </p:cNvPr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5E7428E-8FE9-9C71-14A3-9DF66D814DD7}"/>
                </a:ext>
              </a:extLst>
            </p:cNvPr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6F977632-3903-DD28-42F1-1987E2E5633D}"/>
              </a:ext>
            </a:extLst>
          </p:cNvPr>
          <p:cNvSpPr/>
          <p:nvPr/>
        </p:nvSpPr>
        <p:spPr>
          <a:xfrm>
            <a:off x="7233904" y="1889081"/>
            <a:ext cx="437574" cy="1362099"/>
          </a:xfrm>
          <a:custGeom>
            <a:avLst/>
            <a:gdLst/>
            <a:ahLst/>
            <a:cxnLst/>
            <a:rect l="l" t="t" r="r" b="b"/>
            <a:pathLst>
              <a:path w="437574" h="1362099">
                <a:moveTo>
                  <a:pt x="0" y="0"/>
                </a:moveTo>
                <a:lnTo>
                  <a:pt x="437575" y="0"/>
                </a:lnTo>
                <a:lnTo>
                  <a:pt x="437575" y="1362099"/>
                </a:lnTo>
                <a:lnTo>
                  <a:pt x="0" y="1362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88A12884-D5F6-EC8C-4631-4B4118BF6278}"/>
              </a:ext>
            </a:extLst>
          </p:cNvPr>
          <p:cNvGrpSpPr/>
          <p:nvPr/>
        </p:nvGrpSpPr>
        <p:grpSpPr>
          <a:xfrm>
            <a:off x="1028700" y="1028700"/>
            <a:ext cx="626108" cy="98935"/>
            <a:chOff x="0" y="0"/>
            <a:chExt cx="164901" cy="2605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F20C444-526F-5FF2-FD88-39ABFA4AFB82}"/>
                </a:ext>
              </a:extLst>
            </p:cNvPr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59A2D4B-2FF3-5D61-DB34-5DC4ADC76522}"/>
                </a:ext>
              </a:extLst>
            </p:cNvPr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7E0E0C4A-4B11-76EB-793A-D654B63285C4}"/>
              </a:ext>
            </a:extLst>
          </p:cNvPr>
          <p:cNvSpPr/>
          <p:nvPr/>
        </p:nvSpPr>
        <p:spPr>
          <a:xfrm flipH="1" flipV="1">
            <a:off x="13728665" y="6036845"/>
            <a:ext cx="4559335" cy="4114800"/>
          </a:xfrm>
          <a:custGeom>
            <a:avLst/>
            <a:gdLst/>
            <a:ahLst/>
            <a:cxnLst/>
            <a:rect l="l" t="t" r="r" b="b"/>
            <a:pathLst>
              <a:path w="4559335" h="4114800">
                <a:moveTo>
                  <a:pt x="455933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59335" y="0"/>
                </a:lnTo>
                <a:lnTo>
                  <a:pt x="4559335" y="411480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043016-0D46-0315-86D2-B98983FD2122}"/>
              </a:ext>
            </a:extLst>
          </p:cNvPr>
          <p:cNvSpPr txBox="1"/>
          <p:nvPr/>
        </p:nvSpPr>
        <p:spPr>
          <a:xfrm>
            <a:off x="2104022" y="685173"/>
            <a:ext cx="7096922" cy="275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950" b="1" spc="179">
                <a:solidFill>
                  <a:srgbClr val="000000"/>
                </a:solidFill>
                <a:latin typeface="Inter Ultra-Bold"/>
                <a:ea typeface="Inter Ultra-Bold"/>
              </a:rPr>
              <a:t>SEE IT IN ACTION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DFEACB4-9E52-EA6B-C37D-CEE2E7005612}"/>
              </a:ext>
            </a:extLst>
          </p:cNvPr>
          <p:cNvSpPr txBox="1"/>
          <p:nvPr/>
        </p:nvSpPr>
        <p:spPr>
          <a:xfrm>
            <a:off x="2104022" y="6106789"/>
            <a:ext cx="8380275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3200" b="1" spc="119">
                <a:solidFill>
                  <a:schemeClr val="tx2"/>
                </a:solidFill>
                <a:latin typeface="Segoe UI"/>
                <a:ea typeface="Inter"/>
                <a:cs typeface="Segoe UI"/>
                <a:sym typeface="Inter"/>
              </a:rPr>
              <a:t>From Customer Data to Onboarding Intelligence in Minutes</a:t>
            </a:r>
            <a:endParaRPr lang="en-US" sz="3200" b="1">
              <a:solidFill>
                <a:schemeClr val="tx2"/>
              </a:solidFill>
              <a:latin typeface="Segoe UI"/>
              <a:cs typeface="Segoe UI"/>
            </a:endParaRPr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DBAA8D34-42DA-969E-ADF0-DC65EC124F8B}"/>
              </a:ext>
            </a:extLst>
          </p:cNvPr>
          <p:cNvSpPr/>
          <p:nvPr/>
        </p:nvSpPr>
        <p:spPr>
          <a:xfrm flipV="1">
            <a:off x="15039" y="6174359"/>
            <a:ext cx="4559335" cy="4114800"/>
          </a:xfrm>
          <a:custGeom>
            <a:avLst/>
            <a:gdLst/>
            <a:ahLst/>
            <a:cxnLst/>
            <a:rect l="l" t="t" r="r" b="b"/>
            <a:pathLst>
              <a:path w="4559335" h="4114800">
                <a:moveTo>
                  <a:pt x="0" y="4114800"/>
                </a:moveTo>
                <a:lnTo>
                  <a:pt x="4559335" y="4114800"/>
                </a:lnTo>
                <a:lnTo>
                  <a:pt x="455933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B18FC9B8-9588-D10D-4A86-86DF164ED328}"/>
              </a:ext>
            </a:extLst>
          </p:cNvPr>
          <p:cNvSpPr txBox="1"/>
          <p:nvPr/>
        </p:nvSpPr>
        <p:spPr>
          <a:xfrm>
            <a:off x="13205775" y="557964"/>
            <a:ext cx="4575896" cy="45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99"/>
              </a:lnSpc>
              <a:spcBef>
                <a:spcPct val="0"/>
              </a:spcBef>
            </a:pPr>
            <a:r>
              <a:rPr lang="en-US" b="1">
                <a:solidFill>
                  <a:srgbClr val="2120A6"/>
                </a:solidFill>
                <a:latin typeface="Segoe UI"/>
                <a:ea typeface="Inter Heavy"/>
                <a:cs typeface="Segoe UI"/>
              </a:rPr>
              <a:t>DE Hackathon 26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020A1AB-8067-2ED2-5FAA-3AED4EC12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GB"/>
          </a:p>
        </p:txBody>
      </p:sp>
      <p:sp>
        <p:nvSpPr>
          <p:cNvPr id="15" name="Freeform 21">
            <a:extLst>
              <a:ext uri="{FF2B5EF4-FFF2-40B4-BE49-F238E27FC236}">
                <a16:creationId xmlns:a16="http://schemas.microsoft.com/office/drawing/2014/main" id="{5A0B9BC9-76ED-3299-2E35-38FFB2B1864D}"/>
              </a:ext>
            </a:extLst>
          </p:cNvPr>
          <p:cNvSpPr/>
          <p:nvPr/>
        </p:nvSpPr>
        <p:spPr>
          <a:xfrm>
            <a:off x="1345736" y="6222193"/>
            <a:ext cx="609853" cy="635110"/>
          </a:xfrm>
          <a:custGeom>
            <a:avLst/>
            <a:gdLst/>
            <a:ahLst/>
            <a:cxnLst/>
            <a:rect l="l" t="t" r="r" b="b"/>
            <a:pathLst>
              <a:path w="1121195" h="1063734">
                <a:moveTo>
                  <a:pt x="0" y="0"/>
                </a:moveTo>
                <a:lnTo>
                  <a:pt x="1121196" y="0"/>
                </a:lnTo>
                <a:lnTo>
                  <a:pt x="1121196" y="1063734"/>
                </a:lnTo>
                <a:lnTo>
                  <a:pt x="0" y="10637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611379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6E9FF">
                <a:alpha val="675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203071"/>
            <a:ext cx="626108" cy="98935"/>
            <a:chOff x="0" y="0"/>
            <a:chExt cx="164901" cy="260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377441"/>
            <a:ext cx="626108" cy="98935"/>
            <a:chOff x="0" y="0"/>
            <a:chExt cx="164901" cy="260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1028700"/>
            <a:ext cx="626108" cy="98935"/>
            <a:chOff x="0" y="0"/>
            <a:chExt cx="164901" cy="260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16568" y="593474"/>
            <a:ext cx="16230600" cy="132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160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THE VALUE WE DELIVER</a:t>
            </a:r>
            <a:endParaRPr lang="en-US" sz="8000" b="1" spc="160">
              <a:solidFill>
                <a:srgbClr val="000000"/>
              </a:solidFill>
              <a:latin typeface="Inter Ultra-Bold"/>
              <a:ea typeface="Inter Ultra-Bold"/>
              <a:cs typeface="Inter Ultra-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2239902" y="595981"/>
            <a:ext cx="318940" cy="31894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338216" y="5034075"/>
            <a:ext cx="1121195" cy="1063734"/>
          </a:xfrm>
          <a:custGeom>
            <a:avLst/>
            <a:gdLst/>
            <a:ahLst/>
            <a:cxnLst/>
            <a:rect l="l" t="t" r="r" b="b"/>
            <a:pathLst>
              <a:path w="1121195" h="1063734">
                <a:moveTo>
                  <a:pt x="0" y="0"/>
                </a:moveTo>
                <a:lnTo>
                  <a:pt x="1121196" y="0"/>
                </a:lnTo>
                <a:lnTo>
                  <a:pt x="1121196" y="1063734"/>
                </a:lnTo>
                <a:lnTo>
                  <a:pt x="0" y="10637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36D1D0-4CE8-6387-5735-D45F2ABB4B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2"/>
          <a:stretch>
            <a:fillRect/>
          </a:stretch>
        </p:blipFill>
        <p:spPr>
          <a:xfrm>
            <a:off x="2592305" y="2381752"/>
            <a:ext cx="12321338" cy="7436033"/>
          </a:xfrm>
          <a:prstGeom prst="rect">
            <a:avLst/>
          </a:prstGeom>
        </p:spPr>
      </p:pic>
      <p:sp>
        <p:nvSpPr>
          <p:cNvPr id="36" name="TextBox 26">
            <a:extLst>
              <a:ext uri="{FF2B5EF4-FFF2-40B4-BE49-F238E27FC236}">
                <a16:creationId xmlns:a16="http://schemas.microsoft.com/office/drawing/2014/main" id="{A83EB4EE-AF31-1464-1A65-B916D7D3361D}"/>
              </a:ext>
            </a:extLst>
          </p:cNvPr>
          <p:cNvSpPr txBox="1"/>
          <p:nvPr/>
        </p:nvSpPr>
        <p:spPr>
          <a:xfrm>
            <a:off x="13205775" y="557964"/>
            <a:ext cx="4575896" cy="45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99"/>
              </a:lnSpc>
              <a:spcBef>
                <a:spcPct val="0"/>
              </a:spcBef>
            </a:pPr>
            <a:r>
              <a:rPr lang="en-US" b="1">
                <a:solidFill>
                  <a:srgbClr val="2120A6"/>
                </a:solidFill>
                <a:latin typeface="Segoe UI"/>
                <a:ea typeface="Inter Heavy"/>
                <a:cs typeface="Segoe UI"/>
              </a:rPr>
              <a:t>DE Hackathon 26</a:t>
            </a:r>
          </a:p>
        </p:txBody>
      </p:sp>
      <p:sp>
        <p:nvSpPr>
          <p:cNvPr id="38" name="Freeform 14">
            <a:extLst>
              <a:ext uri="{FF2B5EF4-FFF2-40B4-BE49-F238E27FC236}">
                <a16:creationId xmlns:a16="http://schemas.microsoft.com/office/drawing/2014/main" id="{20E7C87D-63AE-D722-2A1D-12C1D92956E6}"/>
              </a:ext>
            </a:extLst>
          </p:cNvPr>
          <p:cNvSpPr/>
          <p:nvPr/>
        </p:nvSpPr>
        <p:spPr>
          <a:xfrm flipH="1" flipV="1">
            <a:off x="15491853" y="7280345"/>
            <a:ext cx="2747079" cy="3009399"/>
          </a:xfrm>
          <a:custGeom>
            <a:avLst/>
            <a:gdLst/>
            <a:ahLst/>
            <a:cxnLst/>
            <a:rect l="l" t="t" r="r" b="b"/>
            <a:pathLst>
              <a:path w="4559335" h="4114800">
                <a:moveTo>
                  <a:pt x="455933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59335" y="0"/>
                </a:lnTo>
                <a:lnTo>
                  <a:pt x="4559335" y="411480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C2A7FED-D931-3DB3-6129-1EC1780AF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6E9FF">
                <a:alpha val="675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EECDA-EB0E-6DC4-4E22-83D2B4BCA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834F566-99C6-3A4B-2AEC-279CC5B35F5F}"/>
              </a:ext>
            </a:extLst>
          </p:cNvPr>
          <p:cNvSpPr/>
          <p:nvPr/>
        </p:nvSpPr>
        <p:spPr>
          <a:xfrm>
            <a:off x="9531700" y="6972819"/>
            <a:ext cx="4527197" cy="1431726"/>
          </a:xfrm>
          <a:custGeom>
            <a:avLst/>
            <a:gdLst/>
            <a:ahLst/>
            <a:cxnLst/>
            <a:rect l="l" t="t" r="r" b="b"/>
            <a:pathLst>
              <a:path w="4527197" h="1431726">
                <a:moveTo>
                  <a:pt x="0" y="0"/>
                </a:moveTo>
                <a:lnTo>
                  <a:pt x="4527198" y="0"/>
                </a:lnTo>
                <a:lnTo>
                  <a:pt x="4527198" y="1431727"/>
                </a:lnTo>
                <a:lnTo>
                  <a:pt x="0" y="14317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A89B962-328C-FFA7-E594-AF628BA61D63}"/>
              </a:ext>
            </a:extLst>
          </p:cNvPr>
          <p:cNvSpPr/>
          <p:nvPr/>
        </p:nvSpPr>
        <p:spPr>
          <a:xfrm>
            <a:off x="0" y="1586771"/>
            <a:ext cx="4559335" cy="4114800"/>
          </a:xfrm>
          <a:custGeom>
            <a:avLst/>
            <a:gdLst/>
            <a:ahLst/>
            <a:cxnLst/>
            <a:rect l="l" t="t" r="r" b="b"/>
            <a:pathLst>
              <a:path w="4559335" h="4114800">
                <a:moveTo>
                  <a:pt x="0" y="0"/>
                </a:moveTo>
                <a:lnTo>
                  <a:pt x="4559335" y="0"/>
                </a:lnTo>
                <a:lnTo>
                  <a:pt x="45593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49BBBC2-DE54-7102-E9F9-7BC7748A994A}"/>
              </a:ext>
            </a:extLst>
          </p:cNvPr>
          <p:cNvSpPr txBox="1"/>
          <p:nvPr/>
        </p:nvSpPr>
        <p:spPr>
          <a:xfrm>
            <a:off x="2172028" y="619205"/>
            <a:ext cx="6497274" cy="6046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0" b="1" spc="160">
                <a:solidFill>
                  <a:srgbClr val="000000"/>
                </a:solidFill>
                <a:latin typeface="Inter Ultra-Bold"/>
                <a:ea typeface="Inter Ultra-Bold"/>
                <a:sym typeface="Inter Ultra-Bold"/>
              </a:rPr>
              <a:t>THANK YOU</a:t>
            </a:r>
            <a:endParaRPr lang="en-US" sz="8000" spc="160">
              <a:solidFill>
                <a:srgbClr val="000000"/>
              </a:solidFill>
              <a:latin typeface="Inter Ultra-Bold"/>
              <a:ea typeface="Inter Ultra-Bold"/>
              <a:sym typeface="Inter Ultra-Bold"/>
            </a:endParaRPr>
          </a:p>
          <a:p>
            <a:endParaRPr lang="en-US" sz="8000" b="1" spc="160">
              <a:solidFill>
                <a:srgbClr val="000000"/>
              </a:solidFill>
              <a:latin typeface="Inter Ultra-Bold"/>
              <a:ea typeface="Inter Ultra-Bold"/>
            </a:endParaRPr>
          </a:p>
          <a:p>
            <a:pPr algn="r">
              <a:lnSpc>
                <a:spcPts val="34225"/>
              </a:lnSpc>
              <a:spcBef>
                <a:spcPct val="0"/>
              </a:spcBef>
            </a:pPr>
            <a:endParaRPr lang="en-US" sz="9600" b="1">
              <a:solidFill>
                <a:srgbClr val="000000"/>
              </a:solidFill>
              <a:latin typeface="Inter Ultra-Bold"/>
              <a:ea typeface="Inter Ultra-Bold"/>
              <a:cs typeface="Inter Ultra-Bold"/>
            </a:endParaRP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53DE8BF-C7FC-6AB1-D2CE-6E699D688889}"/>
              </a:ext>
            </a:extLst>
          </p:cNvPr>
          <p:cNvGrpSpPr/>
          <p:nvPr/>
        </p:nvGrpSpPr>
        <p:grpSpPr>
          <a:xfrm>
            <a:off x="1028700" y="1028700"/>
            <a:ext cx="626108" cy="98935"/>
            <a:chOff x="0" y="0"/>
            <a:chExt cx="164901" cy="26057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241C88A-1F1C-2EC0-4C53-63E5352D475D}"/>
                </a:ext>
              </a:extLst>
            </p:cNvPr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2EC2495-743A-DF3A-69CF-6F8F70E28E4A}"/>
                </a:ext>
              </a:extLst>
            </p:cNvPr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F2C2A6D8-40EE-A2DF-E05C-C9C5C17127A4}"/>
              </a:ext>
            </a:extLst>
          </p:cNvPr>
          <p:cNvGrpSpPr/>
          <p:nvPr/>
        </p:nvGrpSpPr>
        <p:grpSpPr>
          <a:xfrm>
            <a:off x="1028700" y="1203071"/>
            <a:ext cx="626108" cy="98935"/>
            <a:chOff x="0" y="0"/>
            <a:chExt cx="164901" cy="26057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AEBF1319-B59B-B960-4699-BAF500BD97F8}"/>
                </a:ext>
              </a:extLst>
            </p:cNvPr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767D2B5-5D54-8EE2-120C-7582EB881F0F}"/>
                </a:ext>
              </a:extLst>
            </p:cNvPr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021FEE39-BD0B-F3AB-51B3-62F3BA0FEB9E}"/>
              </a:ext>
            </a:extLst>
          </p:cNvPr>
          <p:cNvGrpSpPr/>
          <p:nvPr/>
        </p:nvGrpSpPr>
        <p:grpSpPr>
          <a:xfrm>
            <a:off x="1028700" y="1377441"/>
            <a:ext cx="626108" cy="98935"/>
            <a:chOff x="0" y="0"/>
            <a:chExt cx="164901" cy="2605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7BB849D7-0213-93DF-AF2D-DD903EF0DED8}"/>
                </a:ext>
              </a:extLst>
            </p:cNvPr>
            <p:cNvSpPr/>
            <p:nvPr/>
          </p:nvSpPr>
          <p:spPr>
            <a:xfrm>
              <a:off x="0" y="0"/>
              <a:ext cx="164901" cy="26057"/>
            </a:xfrm>
            <a:custGeom>
              <a:avLst/>
              <a:gdLst/>
              <a:ahLst/>
              <a:cxnLst/>
              <a:rect l="l" t="t" r="r" b="b"/>
              <a:pathLst>
                <a:path w="164901" h="26057">
                  <a:moveTo>
                    <a:pt x="0" y="0"/>
                  </a:moveTo>
                  <a:lnTo>
                    <a:pt x="164901" y="0"/>
                  </a:lnTo>
                  <a:lnTo>
                    <a:pt x="164901" y="26057"/>
                  </a:lnTo>
                  <a:lnTo>
                    <a:pt x="0" y="2605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63F0444-FFE0-3687-9285-E8C24C3E36EF}"/>
                </a:ext>
              </a:extLst>
            </p:cNvPr>
            <p:cNvSpPr txBox="1"/>
            <p:nvPr/>
          </p:nvSpPr>
          <p:spPr>
            <a:xfrm>
              <a:off x="0" y="-38100"/>
              <a:ext cx="164901" cy="6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B605468E-F37B-F2BA-6091-B3C9C97FB9B1}"/>
              </a:ext>
            </a:extLst>
          </p:cNvPr>
          <p:cNvSpPr/>
          <p:nvPr/>
        </p:nvSpPr>
        <p:spPr>
          <a:xfrm flipH="1">
            <a:off x="11764615" y="4870085"/>
            <a:ext cx="6519351" cy="5415714"/>
          </a:xfrm>
          <a:custGeom>
            <a:avLst/>
            <a:gdLst/>
            <a:ahLst/>
            <a:cxnLst/>
            <a:rect l="l" t="t" r="r" b="b"/>
            <a:pathLst>
              <a:path w="4729655" h="4114800">
                <a:moveTo>
                  <a:pt x="4729656" y="0"/>
                </a:moveTo>
                <a:lnTo>
                  <a:pt x="0" y="0"/>
                </a:lnTo>
                <a:lnTo>
                  <a:pt x="0" y="4114800"/>
                </a:lnTo>
                <a:lnTo>
                  <a:pt x="4729656" y="4114800"/>
                </a:lnTo>
                <a:lnTo>
                  <a:pt x="4729656" y="0"/>
                </a:lnTo>
                <a:close/>
              </a:path>
            </a:pathLst>
          </a:custGeom>
          <a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4A675B0C-201F-64E1-AB39-564E32311008}"/>
              </a:ext>
            </a:extLst>
          </p:cNvPr>
          <p:cNvSpPr/>
          <p:nvPr/>
        </p:nvSpPr>
        <p:spPr>
          <a:xfrm rot="20938558">
            <a:off x="11690006" y="1747218"/>
            <a:ext cx="2661080" cy="3791694"/>
          </a:xfrm>
          <a:custGeom>
            <a:avLst/>
            <a:gdLst/>
            <a:ahLst/>
            <a:cxnLst/>
            <a:rect l="l" t="t" r="r" b="b"/>
            <a:pathLst>
              <a:path w="2661080" h="3791694">
                <a:moveTo>
                  <a:pt x="0" y="0"/>
                </a:moveTo>
                <a:lnTo>
                  <a:pt x="2661080" y="0"/>
                </a:lnTo>
                <a:lnTo>
                  <a:pt x="2661080" y="3791693"/>
                </a:lnTo>
                <a:lnTo>
                  <a:pt x="0" y="3791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FD85055-B811-17B1-C825-7AF59AF65558}"/>
              </a:ext>
            </a:extLst>
          </p:cNvPr>
          <p:cNvSpPr txBox="1"/>
          <p:nvPr/>
        </p:nvSpPr>
        <p:spPr>
          <a:xfrm>
            <a:off x="1868507" y="8405780"/>
            <a:ext cx="8891252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59"/>
              </a:lnSpc>
              <a:spcBef>
                <a:spcPct val="0"/>
              </a:spcBef>
            </a:pPr>
            <a:r>
              <a:rPr lang="en-US" sz="4800" b="1">
                <a:latin typeface="Segoe UI"/>
                <a:ea typeface="Inter Semi-Bold"/>
                <a:cs typeface="Segoe UI"/>
                <a:sym typeface="Inter Semi-Bold"/>
              </a:rPr>
              <a:t>Q/A</a:t>
            </a:r>
            <a:endParaRPr lang="en-US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195C8DC-73E8-DE91-8678-AF25CA08C094}"/>
              </a:ext>
            </a:extLst>
          </p:cNvPr>
          <p:cNvSpPr txBox="1"/>
          <p:nvPr/>
        </p:nvSpPr>
        <p:spPr>
          <a:xfrm>
            <a:off x="13017782" y="557964"/>
            <a:ext cx="4575896" cy="45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99"/>
              </a:lnSpc>
              <a:spcBef>
                <a:spcPct val="0"/>
              </a:spcBef>
            </a:pPr>
            <a:r>
              <a:rPr lang="en-US" b="1">
                <a:solidFill>
                  <a:srgbClr val="2120A6"/>
                </a:solidFill>
                <a:latin typeface="Segoe UI"/>
                <a:ea typeface="Inter Heavy"/>
                <a:cs typeface="Segoe UI"/>
              </a:rPr>
              <a:t>DE Hackathon 26</a:t>
            </a:r>
          </a:p>
        </p:txBody>
      </p:sp>
      <p:sp>
        <p:nvSpPr>
          <p:cNvPr id="24" name="Freeform 12">
            <a:extLst>
              <a:ext uri="{FF2B5EF4-FFF2-40B4-BE49-F238E27FC236}">
                <a16:creationId xmlns:a16="http://schemas.microsoft.com/office/drawing/2014/main" id="{DEF8E253-2B0D-87D4-0E9A-04D4F1393630}"/>
              </a:ext>
            </a:extLst>
          </p:cNvPr>
          <p:cNvSpPr/>
          <p:nvPr/>
        </p:nvSpPr>
        <p:spPr>
          <a:xfrm>
            <a:off x="9140943" y="477947"/>
            <a:ext cx="726751" cy="727218"/>
          </a:xfrm>
          <a:custGeom>
            <a:avLst/>
            <a:gdLst/>
            <a:ahLst/>
            <a:cxnLst/>
            <a:rect l="l" t="t" r="r" b="b"/>
            <a:pathLst>
              <a:path w="726751" h="727218">
                <a:moveTo>
                  <a:pt x="0" y="0"/>
                </a:moveTo>
                <a:lnTo>
                  <a:pt x="726751" y="0"/>
                </a:lnTo>
                <a:lnTo>
                  <a:pt x="726751" y="727218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D4EDC-AE57-E010-BFD0-DDA2C3C4A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5479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created xsi:type="dcterms:W3CDTF">2006-08-16T00:00:00Z</dcterms:created>
  <dcterms:modified xsi:type="dcterms:W3CDTF">2026-06-19T11:49:24Z</dcterms:modified>
  <dc:identifier>DAHM9BBQHT8</dc:identifier>
</cp:coreProperties>
</file>